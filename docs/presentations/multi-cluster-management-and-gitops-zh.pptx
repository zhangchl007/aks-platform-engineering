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78D4"/>
                </a:solidFill>
                <a:latin typeface="Segoe UI"/>
              </a:rPr>
              <a:t>多集群管理  ·  GITOPS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24028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202020"/>
                </a:solidFill>
                <a:latin typeface="Segoe UI Light"/>
              </a:rPr>
              <a:t>大规模管理 Kubernetes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605E5C"/>
                </a:solidFill>
                <a:latin typeface="Segoe UI Light"/>
              </a:rPr>
              <a:t>横跨 AKS 与外部集群的统一 GitOps 控制回路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74320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</a:rPr>
              <a:t>Azure Kubernetes Service  ·  ArgoCD  ·  Fleet Manager  ·  Azure Arc  ·  Cluster API / Crossplane  ·  Backstage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平台工程参考架构  ·  客户简报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问题所在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多集群管理为何如此困难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Azure Kubernetes Service 上的平台工程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02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平台团队运行多个集群来隔离开发、预发布和生产环境并隔离团队。若缺乏统一的运维模型，这种规模就会带来摩擦。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632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063240"/>
            <a:ext cx="50800" cy="14173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24612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配置漂移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666744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每个集群都靠手工调整，状态无法审查且难以复现。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0632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3063240"/>
            <a:ext cx="50800" cy="141732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324612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上线缓慢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666744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新建一个团队或集群是靠工单驱动的手工项目。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0916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709160"/>
            <a:ext cx="50800" cy="1417320"/>
          </a:xfrm>
          <a:prstGeom prst="rect">
            <a:avLst/>
          </a:prstGeom>
          <a:solidFill>
            <a:srgbClr val="005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89204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护栏不一致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312664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安全、策略和插件在各集群、各云之间各不相同。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70916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709160"/>
            <a:ext cx="50800" cy="14173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489204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工具割裂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5312664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AKS、本地、边缘和其他云各自需要独立的工作流。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解决思路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构建在 GitOps 之上的“铺好的路”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Azure Kubernetes Service 上的平台工程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03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一个管理（控制平面）AKS 集群运行整个平台。Git 是唯一可信来源；ArgoCD 持续将每个集群校准至与之一致。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2615184" cy="2103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3346704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069080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02020"/>
                </a:solidFill>
                <a:latin typeface="Segoe UI"/>
              </a:rPr>
              <a:t>声明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805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平台标准、插件、集群和应用都以清单形式存放在 Git 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3108960"/>
            <a:ext cx="2615184" cy="2103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03904" y="3346704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4069080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02020"/>
                </a:solidFill>
                <a:latin typeface="Segoe UI"/>
              </a:rPr>
              <a:t>校准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3904" y="44805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ArgoCD 检测变更并将期望状态同步到目标集群。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3108960"/>
            <a:ext cx="2615184" cy="2103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28816" y="3346704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4069080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02020"/>
                </a:solidFill>
                <a:latin typeface="Segoe UI"/>
              </a:rPr>
              <a:t>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44805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Fleet Manager 与 Azure Arc 提供横跨 AKS 及其他环境的统一控制平面。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3108960"/>
            <a:ext cx="2615184" cy="2103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53728" y="3346704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4069080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02020"/>
                </a:solidFill>
                <a:latin typeface="Segoe UI"/>
              </a:rPr>
              <a:t>自助服务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44805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Backstage 将“铺好的路”转化为引导式的开发者工作流。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参考架构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Azure Kubernetes Service 上的平台工程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04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05E5C"/>
                </a:solidFill>
                <a:latin typeface="Segoe UI"/>
              </a:rPr>
              <a:t>GitOps Bridge 模式将 Terraform 预配的基础设施连接到由 ArgoCD 驱动的控制回路。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2286000" cy="868680"/>
          </a:xfrm>
          <a:prstGeom prst="round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Git 仓库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平台 · 集群 · 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06240"/>
            <a:ext cx="2286000" cy="868680"/>
          </a:xfrm>
          <a:prstGeom prst="roundRect">
            <a:avLst/>
          </a:prstGeom>
          <a:solidFill>
            <a:srgbClr val="605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Terraform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引导控制平面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3566160"/>
            <a:ext cx="2468880" cy="12344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控制平面 AKS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ArgoCD · App-of-Apps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2651760"/>
            <a:ext cx="2377440" cy="822960"/>
          </a:xfrm>
          <a:prstGeom prst="roundRect">
            <a:avLst/>
          </a:prstGeom>
          <a:solidFill>
            <a:srgbClr val="005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AKS 工作负载集群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CAPZ / Crossplane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3703320"/>
            <a:ext cx="2377440" cy="822960"/>
          </a:xfrm>
          <a:prstGeom prst="round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Azure Fleet Manager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AKS 治理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754880"/>
            <a:ext cx="2377440" cy="822960"/>
          </a:xfrm>
          <a:prstGeom prst="roundRect">
            <a:avLst/>
          </a:prstGeom>
          <a:solidFill>
            <a:srgbClr val="605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Azure Arc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外部 / 非 AKS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3703320"/>
            <a:ext cx="1920240" cy="822960"/>
          </a:xfrm>
          <a:prstGeom prst="round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应用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由 GitOps 交付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3355848"/>
            <a:ext cx="594360" cy="576072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108960" y="4389120"/>
            <a:ext cx="594360" cy="246888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172200" y="3063240"/>
            <a:ext cx="640080" cy="868680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4114800"/>
            <a:ext cx="640080" cy="0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72200" y="4297680"/>
            <a:ext cx="640080" cy="868680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89720" y="4114800"/>
            <a:ext cx="274320" cy="0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05E5C"/>
                </a:solidFill>
                <a:latin typeface="Segoe UI"/>
              </a:rPr>
              <a:t>Terraform 安装 ArgoCD，由其引导插件并从 Git 同步集群定义和应用。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GITOPS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ArgoCD：校准引擎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Azure Kubernetes Service 上的平台工程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05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486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202020"/>
                </a:solidFill>
                <a:latin typeface="Segoe UI"/>
              </a:rPr>
              <a:t>▪  Git 是平台与应用的唯一可信来源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202020"/>
                </a:solidFill>
                <a:latin typeface="Segoe UI"/>
              </a:rPr>
              <a:t>▪  ArgoCD 持续将运行状态与 Git 对比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202020"/>
                </a:solidFill>
                <a:latin typeface="Segoe UI"/>
              </a:rPr>
              <a:t>▪  漂移会被自动纠正或提示审查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202020"/>
                </a:solidFill>
                <a:latin typeface="Segoe UI"/>
              </a:rPr>
              <a:t>▪  每次变更都可审查、可复现、可审计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202020"/>
                </a:solidFill>
                <a:latin typeface="Segoe UI"/>
              </a:rPr>
              <a:t>▪  单一工作流横跨 AKS、Fleet 与 Arc 连接的集群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2286000"/>
            <a:ext cx="4709160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4688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05E5C"/>
                </a:solidFill>
                <a:latin typeface="Segoe UI"/>
              </a:rPr>
              <a:t>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92608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02020"/>
                </a:solidFill>
                <a:latin typeface="Segoe UI"/>
              </a:rPr>
              <a:t>addons-argo-rollouts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907792"/>
            <a:ext cx="914400" cy="310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 i="0">
                <a:solidFill>
                  <a:srgbClr val="005494"/>
                </a:solidFill>
                <a:latin typeface="Segoe UI"/>
              </a:rPr>
              <a:t>已同步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953512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07C10"/>
                </a:solidFill>
                <a:latin typeface="Segoe UI"/>
              </a:rPr>
              <a:t>● 健康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438144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02020"/>
                </a:solidFill>
                <a:latin typeface="Segoe UI"/>
              </a:rPr>
              <a:t>cluster-apps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3419856"/>
            <a:ext cx="914400" cy="310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 i="0">
                <a:solidFill>
                  <a:srgbClr val="005494"/>
                </a:solidFill>
                <a:latin typeface="Segoe UI"/>
              </a:rPr>
              <a:t>已同步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465576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07C10"/>
                </a:solidFill>
                <a:latin typeface="Segoe UI"/>
              </a:rPr>
              <a:t>● 健康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950208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02020"/>
                </a:solidFill>
                <a:latin typeface="Segoe UI"/>
              </a:rPr>
              <a:t>aks-store-demo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3931920"/>
            <a:ext cx="914400" cy="310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 i="0">
                <a:solidFill>
                  <a:srgbClr val="005494"/>
                </a:solidFill>
                <a:latin typeface="Segoe UI"/>
              </a:rPr>
              <a:t>已同步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3977640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07C10"/>
                </a:solidFill>
                <a:latin typeface="Segoe UI"/>
              </a:rPr>
              <a:t>● 健康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46227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02020"/>
                </a:solidFill>
                <a:latin typeface="Segoe UI"/>
              </a:rPr>
              <a:t>capz-cluster-def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4443984"/>
            <a:ext cx="914400" cy="310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 i="0">
                <a:solidFill>
                  <a:srgbClr val="005494"/>
                </a:solidFill>
                <a:latin typeface="Segoe UI"/>
              </a:rPr>
              <a:t>已同步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4489704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B56E00"/>
                </a:solidFill>
                <a:latin typeface="Segoe UI"/>
              </a:rPr>
              <a:t>● 进行中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974336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02020"/>
                </a:solidFill>
                <a:latin typeface="Segoe UI"/>
              </a:rPr>
              <a:t>arc-baseline-arc-demo-vm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4956048"/>
            <a:ext cx="914400" cy="310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50" b="1" i="0">
                <a:solidFill>
                  <a:srgbClr val="005494"/>
                </a:solidFill>
                <a:latin typeface="Segoe UI"/>
              </a:rPr>
              <a:t>已同步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5001768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07C10"/>
                </a:solidFill>
                <a:latin typeface="Segoe UI"/>
              </a:rPr>
              <a:t>● 健康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GITOPS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一个仓库，多个集群：App-of-Apps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Azure Kubernetes Service 上的平台工程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06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ApplicationSet 引导平台；App-of-Apps 模式让一个父应用统管插件、集群与工作负载的整棵树。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78D4"/>
                </a:solidFill>
                <a:latin typeface="Consolas"/>
              </a:rPr>
              <a:t>gitops/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3483864"/>
            <a:ext cx="128016" cy="1280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2" y="34290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02020"/>
                </a:solidFill>
                <a:latin typeface="Consolas"/>
              </a:rPr>
              <a:t>bootstrap/control-plane/addons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3941064"/>
            <a:ext cx="128016" cy="1280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38862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02020"/>
                </a:solidFill>
                <a:latin typeface="Consolas"/>
              </a:rPr>
              <a:t>environments/default/addons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4398264"/>
            <a:ext cx="128016" cy="1280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6192" y="4343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02020"/>
                </a:solidFill>
                <a:latin typeface="Consolas"/>
              </a:rPr>
              <a:t>clusters/  ·  capz  ·  crossplane  ·  arc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4855464"/>
            <a:ext cx="128016" cy="1280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6192" y="48006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02020"/>
                </a:solidFill>
                <a:latin typeface="Consolas"/>
              </a:rPr>
              <a:t>apps/  ·  aks-store-demo · myapp · arc-demo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5312664"/>
            <a:ext cx="128016" cy="1280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36192" y="52578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02020"/>
                </a:solidFill>
                <a:latin typeface="Consolas"/>
              </a:rPr>
              <a:t>hooks/  ·  sleep · identity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2880360"/>
            <a:ext cx="4389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2880360"/>
            <a:ext cx="50800" cy="1143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5472" y="30632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生而声明式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3483864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新增集群或应用只是一个拉取请求 —— 而非手工部署。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4206240"/>
            <a:ext cx="4389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4206240"/>
            <a:ext cx="50800" cy="114300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5472" y="438912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处处一致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4809744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新集群自动继承相同的插件与护栏。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基础设施即服务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从 Git 创建集群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Azure Kubernetes Service 上的平台工程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07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提交一个集群定义，ArgoCD 便通过 Kubernetes 自定义资源预配真实的 Azure 基础设施 —— 无需在门户手工操作。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71800"/>
            <a:ext cx="246888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202020"/>
                </a:solidFill>
                <a:latin typeface="Segoe UI"/>
              </a:rPr>
              <a:t>提交集群</a:t>
            </a:r>
          </a:p>
          <a:p>
            <a:pPr algn="ctr"/>
            <a:r>
              <a:rPr sz="1300" b="0" i="0">
                <a:solidFill>
                  <a:srgbClr val="202020"/>
                </a:solidFill>
                <a:latin typeface="Segoe UI"/>
              </a:rPr>
              <a:t>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3200400"/>
            <a:ext cx="2194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078D4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971800"/>
            <a:ext cx="246888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202020"/>
                </a:solidFill>
                <a:latin typeface="Segoe UI"/>
              </a:rPr>
              <a:t>ArgoCD 同步</a:t>
            </a:r>
          </a:p>
          <a:p>
            <a:pPr algn="ctr"/>
            <a:r>
              <a:rPr sz="1300" b="0" i="0">
                <a:solidFill>
                  <a:srgbClr val="202020"/>
                </a:solidFill>
                <a:latin typeface="Segoe UI"/>
              </a:rPr>
              <a:t>CAPZ / ASO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5312" y="3200400"/>
            <a:ext cx="2194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078D4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971800"/>
            <a:ext cx="246888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202020"/>
                </a:solidFill>
                <a:latin typeface="Segoe UI"/>
              </a:rPr>
              <a:t>AKS 工作负载</a:t>
            </a:r>
          </a:p>
          <a:p>
            <a:pPr algn="ctr"/>
            <a:r>
              <a:rPr sz="1300" b="0" i="0">
                <a:solidFill>
                  <a:srgbClr val="202020"/>
                </a:solidFill>
                <a:latin typeface="Segoe UI"/>
              </a:rPr>
              <a:t>集群已创建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3200400"/>
            <a:ext cx="2194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078D4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971800"/>
            <a:ext cx="246888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202020"/>
                </a:solidFill>
                <a:latin typeface="Segoe UI"/>
              </a:rPr>
              <a:t>插件 + 应用</a:t>
            </a:r>
          </a:p>
          <a:p>
            <a:pPr algn="ctr"/>
            <a:r>
              <a:rPr sz="1300" b="0" i="0">
                <a:solidFill>
                  <a:srgbClr val="202020"/>
                </a:solidFill>
                <a:latin typeface="Segoe UI"/>
              </a:rPr>
              <a:t>已引导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348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434840"/>
            <a:ext cx="50800" cy="1417320"/>
          </a:xfrm>
          <a:prstGeom prst="rect">
            <a:avLst/>
          </a:prstGeom>
          <a:solidFill>
            <a:srgbClr val="005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61772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Cluster API Provider for Azure (CAPZ)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038344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默认路径。使用 Azure Service Operator 将 Cluster、AzureManagedControlPlane 和托管代理池呈现为 Kubernetes 资源。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434840"/>
            <a:ext cx="5029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434840"/>
            <a:ext cx="50800" cy="141732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6177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Crossplane（备选方案）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38344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改用 Terraform 的 infrastructure_provider 变量，即可改为通过 Crossplane 组合管理 Azure 资源。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AKS 多集群治理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Azure Kubernetes Fleet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Azure Kubernetes Service 上的平台工程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08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面向大规模 AKS 的原生 Azure 控制平面 —— 成员管理、分组以及横跨所有工作负载集群的舰队级操作。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202020"/>
                </a:solidFill>
                <a:latin typeface="Segoe UI"/>
              </a:rPr>
              <a:t>▪  统一管理所有 AKS 集群的成员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202020"/>
                </a:solidFill>
                <a:latin typeface="Segoe UI"/>
              </a:rPr>
              <a:t>▪  协调式、分阶段的更新执行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202020"/>
                </a:solidFill>
                <a:latin typeface="Segoe UI"/>
              </a:rPr>
              <a:t>▪  舰队范围的分组与定向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202020"/>
                </a:solidFill>
                <a:latin typeface="Segoe UI"/>
              </a:rPr>
              <a:t>▪  作为 ArgoCD 回路的补充，而非替代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3383280"/>
            <a:ext cx="1920240" cy="8686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gitops-fleet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7726680" y="2788920"/>
            <a:ext cx="1828800" cy="1024128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03720" y="2468880"/>
            <a:ext cx="1645920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202020"/>
                </a:solidFill>
                <a:latin typeface="Segoe UI"/>
              </a:rPr>
              <a:t>AKS member 1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555480" y="2788920"/>
            <a:ext cx="1600200" cy="1024128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332720" y="2468880"/>
            <a:ext cx="1645920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202020"/>
                </a:solidFill>
                <a:latin typeface="Segoe UI"/>
              </a:rPr>
              <a:t>AKS member 2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726680" y="3813048"/>
            <a:ext cx="1828800" cy="1581912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03720" y="5074920"/>
            <a:ext cx="1645920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202020"/>
                </a:solidFill>
                <a:latin typeface="Segoe UI"/>
              </a:rPr>
              <a:t>AKS member 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55480" y="3813048"/>
            <a:ext cx="1600200" cy="1581912"/>
          </a:xfrm>
          <a:prstGeom prst="bentConnector3">
            <a:avLst/>
          </a:prstGeom>
          <a:ln w="1905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332720" y="5074920"/>
            <a:ext cx="1645920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202020"/>
                </a:solidFill>
                <a:latin typeface="Segoe UI"/>
              </a:rPr>
              <a:t>AKS member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外部集群治理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启用 Azure Arc 的 Kubernetes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Azure Kubernetes Service 上的平台工程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09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将本地、边缘、kind/k3s 以及其他云的集群纳入同一个 Azure 与 GitOps 控制平面。AKS 使用 Fleet Manager；其余一切使用 Arc。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6324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063240"/>
            <a:ext cx="50800" cy="13716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246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连接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666744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az connectedk8s connect 可将任何符合规范的集群投射到 Azure。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306324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3063240"/>
            <a:ext cx="50800" cy="137160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3246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注册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666744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一个 ArgoCD 集群 Secret 让 Arc 集群成为 GitOps 目标。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306324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3063240"/>
            <a:ext cx="50800" cy="1371600"/>
          </a:xfrm>
          <a:prstGeom prst="rect">
            <a:avLst/>
          </a:prstGeom>
          <a:solidFill>
            <a:srgbClr val="005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3246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校准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3666744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同一个 ArgoCD 实例将基线工作负载同步至该集群。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754880"/>
            <a:ext cx="10533888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37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02020"/>
                </a:solidFill>
                <a:latin typeface="Segoe UI"/>
              </a:rPr>
              <a:t>单一管理视图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本仓库已验证：一个托管在虚拟机上的 kind 集群作为 arc-demo-vm 上线，注册到控制平面 ArgoCD，运行着一个“已同步且健康”的基线应用。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开发者体验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使用 Backstage 实现自助服务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Azure Kubernetes Service 上的平台工程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Backstage 是入口大门。它把平台标准转化为引导式工作流，产出的是 GitOps 变更 —— 而非工单。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02020"/>
                </a:solidFill>
                <a:latin typeface="Segoe UI"/>
              </a:rPr>
              <a:t>▪  软件模板可脚手架式创建新服务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02020"/>
                </a:solidFill>
                <a:latin typeface="Segoe UI"/>
              </a:rPr>
              <a:t>▪  “使用 ArgoCD 部署应用”会发起一个拉取请求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02020"/>
                </a:solidFill>
                <a:latin typeface="Segoe UI"/>
              </a:rPr>
              <a:t>▪  GitHub OAuth 登录与软件目录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02020"/>
                </a:solidFill>
                <a:latin typeface="Segoe UI"/>
              </a:rPr>
              <a:t>▪  开发者无需直接访问 Azure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286000"/>
            <a:ext cx="4663440" cy="78638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250" b="1" i="0">
                <a:solidFill>
                  <a:srgbClr val="202020"/>
                </a:solidFill>
                <a:latin typeface="Segoe UI"/>
              </a:rPr>
              <a:t>开发者打开</a:t>
            </a:r>
          </a:p>
          <a:p>
            <a:pPr algn="l"/>
            <a:r>
              <a:rPr sz="1250" b="0" i="0">
                <a:solidFill>
                  <a:srgbClr val="605E5C"/>
                </a:solidFill>
                <a:latin typeface="Segoe UI"/>
              </a:rPr>
              <a:t>Backstage 模板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286000"/>
            <a:ext cx="50800" cy="7863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0" y="3246120"/>
            <a:ext cx="4663440" cy="78638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250" b="1" i="0">
                <a:solidFill>
                  <a:srgbClr val="202020"/>
                </a:solidFill>
                <a:latin typeface="Segoe UI"/>
              </a:rPr>
              <a:t>模板发起一个</a:t>
            </a:r>
          </a:p>
          <a:p>
            <a:pPr algn="l"/>
            <a:r>
              <a:rPr sz="1250" b="0" i="0">
                <a:solidFill>
                  <a:srgbClr val="605E5C"/>
                </a:solidFill>
                <a:latin typeface="Segoe UI"/>
              </a:rPr>
              <a:t>GitHub 拉取请求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246120"/>
            <a:ext cx="50800" cy="7863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0" y="4206240"/>
            <a:ext cx="4663440" cy="78638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250" b="1" i="0">
                <a:solidFill>
                  <a:srgbClr val="202020"/>
                </a:solidFill>
                <a:latin typeface="Segoe UI"/>
              </a:rPr>
              <a:t>合并 → ArgoCD</a:t>
            </a:r>
          </a:p>
          <a:p>
            <a:pPr algn="l"/>
            <a:r>
              <a:rPr sz="1250" b="0" i="0">
                <a:solidFill>
                  <a:srgbClr val="605E5C"/>
                </a:solidFill>
                <a:latin typeface="Segoe UI"/>
              </a:rPr>
              <a:t>同步应用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4206240"/>
            <a:ext cx="50800" cy="7863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0" y="5166360"/>
            <a:ext cx="4663440" cy="78638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250" b="1" i="0">
                <a:solidFill>
                  <a:srgbClr val="202020"/>
                </a:solidFill>
                <a:latin typeface="Segoe UI"/>
              </a:rPr>
              <a:t>应用运行在</a:t>
            </a:r>
          </a:p>
          <a:p>
            <a:pPr algn="l"/>
            <a:r>
              <a:rPr sz="1250" b="0" i="0">
                <a:solidFill>
                  <a:srgbClr val="605E5C"/>
                </a:solidFill>
                <a:latin typeface="Segoe UI"/>
              </a:rPr>
              <a:t>目标集群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5166360"/>
            <a:ext cx="50800" cy="78638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安全发布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使用 Argo Rollouts 进行渐进式交付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Azure Kubernetes Service 上的平台工程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在整个舰队中逐步发布变更。分步切换流量、观察信号，并在健康状况下降时自动回滚。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0078D4"/>
                </a:solidFill>
                <a:latin typeface="Segoe UI Light"/>
              </a:rPr>
              <a:t>10%</a:t>
            </a:r>
          </a:p>
          <a:p>
            <a:pPr algn="ctr"/>
            <a:r>
              <a:rPr sz="1300" b="1" i="0">
                <a:solidFill>
                  <a:srgbClr val="605E5C"/>
                </a:solidFill>
                <a:latin typeface="Segoe UI"/>
              </a:rPr>
              <a:t>金丝雀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5264" y="3429000"/>
            <a:ext cx="2377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078D4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10896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0078D4"/>
                </a:solidFill>
                <a:latin typeface="Segoe UI Light"/>
              </a:rPr>
              <a:t>30%</a:t>
            </a:r>
          </a:p>
          <a:p>
            <a:pPr algn="ctr"/>
            <a:r>
              <a:rPr sz="1300" b="1" i="0">
                <a:solidFill>
                  <a:srgbClr val="605E5C"/>
                </a:solidFill>
                <a:latin typeface="Segoe UI"/>
              </a:rPr>
              <a:t>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7024" y="3429000"/>
            <a:ext cx="2377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078D4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10896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0078D4"/>
                </a:solidFill>
                <a:latin typeface="Segoe UI Light"/>
              </a:rPr>
              <a:t>60%</a:t>
            </a:r>
          </a:p>
          <a:p>
            <a:pPr algn="ctr"/>
            <a:r>
              <a:rPr sz="1300" b="1" i="0">
                <a:solidFill>
                  <a:srgbClr val="605E5C"/>
                </a:solidFill>
                <a:latin typeface="Segoe UI"/>
              </a:rPr>
              <a:t>加量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3429000"/>
            <a:ext cx="2377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078D4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310896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107C10"/>
                </a:solidFill>
                <a:latin typeface="Segoe UI Light"/>
              </a:rPr>
              <a:t>100%</a:t>
            </a:r>
          </a:p>
          <a:p>
            <a:pPr algn="ctr"/>
            <a:r>
              <a:rPr sz="1300" b="1" i="0">
                <a:solidFill>
                  <a:srgbClr val="605E5C"/>
                </a:solidFill>
                <a:latin typeface="Segoe UI"/>
              </a:rPr>
              <a:t>晋级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46320"/>
            <a:ext cx="5257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846320"/>
            <a:ext cx="50800" cy="10058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02920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自动化分析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449824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指标为每一步设卡；检查失败即中止发布。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846320"/>
            <a:ext cx="5029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846320"/>
            <a:ext cx="50800" cy="100584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50292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即时回滚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44982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无需手忙脚乱即可回退到上一个健康版本。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默认内置安全与护栏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Azure Kubernetes Service 上的平台工程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12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257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50800" cy="10972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1460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身份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93522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Azure 使用 Microsoft Entra ID 与工作负载身份；Backstage 使用 GitHub OAuth。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331720"/>
            <a:ext cx="5257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2331720"/>
            <a:ext cx="50800" cy="109728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机密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3522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通过 CSI 驱动使用 Azure Key Vault；敏感值经由环境变量传入，绝不进入 Git。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75304"/>
            <a:ext cx="5257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575304"/>
            <a:ext cx="50800" cy="1097280"/>
          </a:xfrm>
          <a:prstGeom prst="rect">
            <a:avLst/>
          </a:prstGeom>
          <a:solidFill>
            <a:srgbClr val="005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75818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17880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Azure Policy 与 Gatekeeper 在每个集群上强制执行平台团队的护栏。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575304"/>
            <a:ext cx="5257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575304"/>
            <a:ext cx="50800" cy="10972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75818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可观测性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17880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Azure Monitor、托管 Prometheus 与 Grafana，以及 OpenTelemetry 方案。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18888"/>
            <a:ext cx="5257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818888"/>
            <a:ext cx="50800" cy="109728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001768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可审计性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542239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Git 历史即变更日志 —— 每次集群变更都经过审查且可追溯。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4818888"/>
            <a:ext cx="5257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4818888"/>
            <a:ext cx="50800" cy="1097280"/>
          </a:xfrm>
          <a:prstGeom prst="rect">
            <a:avLst/>
          </a:prstGeom>
          <a:solidFill>
            <a:srgbClr val="005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001768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隔离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42239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每个团队拥有专属集群，并受平台团队以策略强制执行的限制。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现场演示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端到端演练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Azure Kubernetes Service 上的平台工程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13 / 15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F5F8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05494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5915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平台控制平面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761488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托管 ArgoCD 的管理 AKS —— 团队无需直接访问 Azure。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2377440"/>
            <a:ext cx="640080" cy="640080"/>
          </a:xfrm>
          <a:prstGeom prst="ellipse">
            <a:avLst/>
          </a:prstGeom>
          <a:solidFill>
            <a:srgbClr val="F5F8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05494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35915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GitOps 控制回路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761488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ArgoCD 应用从 Git 起“已同步且健康”。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611880"/>
            <a:ext cx="640080" cy="640080"/>
          </a:xfrm>
          <a:prstGeom prst="ellipse">
            <a:avLst/>
          </a:prstGeom>
          <a:solidFill>
            <a:srgbClr val="F5F8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05494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9359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开发者门户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95928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Backstage 模板发起一个 GitOps 拉取请求。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3611880"/>
            <a:ext cx="640080" cy="640080"/>
          </a:xfrm>
          <a:prstGeom prst="ellipse">
            <a:avLst/>
          </a:prstGeom>
          <a:solidFill>
            <a:srgbClr val="F5F8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05494"/>
                </a:solidFill>
                <a:latin typeface="Segoe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59359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应用交付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995928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aks-store-demo 通过 cluster-apps App-of-Apps 运行。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846320"/>
            <a:ext cx="640080" cy="640080"/>
          </a:xfrm>
          <a:prstGeom prst="ellipse">
            <a:avLst/>
          </a:prstGeom>
          <a:solidFill>
            <a:srgbClr val="F5F8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05494"/>
                </a:solidFill>
                <a:latin typeface="Segoe U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2803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AKS 治理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230368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新的工作负载集群加入 Azure Fleet Manager。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4846320"/>
            <a:ext cx="640080" cy="640080"/>
          </a:xfrm>
          <a:prstGeom prst="ellipse">
            <a:avLst/>
          </a:prstGeom>
          <a:solidFill>
            <a:srgbClr val="F5F8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05494"/>
                </a:solidFill>
                <a:latin typeface="Segoe U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82803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外部集群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5230368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05E5C"/>
                </a:solidFill>
                <a:latin typeface="Segoe UI"/>
              </a:rPr>
              <a:t>由同一个 ArgoCD 校准的 Arc 连接 kind 集群。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32688"/>
            <a:ext cx="566928" cy="635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业务价值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02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02020"/>
                </a:solidFill>
                <a:latin typeface="Segoe UI Light"/>
              </a:rPr>
              <a:t>为你的团队带来的成果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Azure Kubernetes Service 上的平台工程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5E5C"/>
                </a:solidFill>
                <a:latin typeface="Segoe UI"/>
              </a:rPr>
              <a:t>14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50800" cy="15544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6517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更快的上线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7238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新集群和团队通过一个拉取请求即可上线，插件预先安装完毕。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46888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2468880"/>
            <a:ext cx="50800" cy="155448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26517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规模化的一致性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307238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横跨 AKS、本地、边缘与其他云的一条“铺好的路”。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246888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468880"/>
            <a:ext cx="50800" cy="1554480"/>
          </a:xfrm>
          <a:prstGeom prst="rect">
            <a:avLst/>
          </a:prstGeom>
          <a:solidFill>
            <a:srgbClr val="005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6517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更低的运维风险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307238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声明式状态、自动化校准与即时回滚。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0624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206240"/>
            <a:ext cx="50800" cy="15544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389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开发者效率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80974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通过 Backstage 自助服务，无需精深的 Kubernetes 或 Azure 技能。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420624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6552" y="4206240"/>
            <a:ext cx="50800" cy="155448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72584" y="4389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默认即治理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2584" y="480974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安全、身份与策略统一应用，并通过 Git 审计。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420624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4206240"/>
            <a:ext cx="50800" cy="1554480"/>
          </a:xfrm>
          <a:prstGeom prst="rect">
            <a:avLst/>
          </a:prstGeom>
          <a:solidFill>
            <a:srgbClr val="005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6" y="4389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Azure 原生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480974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05E5C"/>
                </a:solidFill>
                <a:latin typeface="Segoe UI"/>
              </a:rPr>
              <a:t>构建于 AKS、Fleet Manager、Arc、Key Vault 与 Azure Monitor 之上。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0116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02020"/>
                </a:solidFill>
                <a:latin typeface="Segoe UI Light"/>
              </a:rPr>
              <a:t>一个门户。一套 GitOps 工作流。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605E5C"/>
                </a:solidFill>
                <a:latin typeface="Segoe UI Light"/>
              </a:rPr>
              <a:t>一条横跨 AKS 与外部 Kubernetes 集群的受治理路径。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840480"/>
            <a:ext cx="676656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500" b="1" i="0">
                <a:solidFill>
                  <a:srgbClr val="202020"/>
                </a:solidFill>
                <a:latin typeface="Segoe UI"/>
              </a:rPr>
              <a:t>开发者：一个自助服务门户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840480"/>
            <a:ext cx="50800" cy="5669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4553712"/>
            <a:ext cx="676656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500" b="1" i="0">
                <a:solidFill>
                  <a:srgbClr val="202020"/>
                </a:solidFill>
                <a:latin typeface="Segoe UI"/>
              </a:rPr>
              <a:t>运维者：一套 GitOps 控制回路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553712"/>
            <a:ext cx="50800" cy="5669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5266944"/>
            <a:ext cx="676656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500" b="1" i="0">
                <a:solidFill>
                  <a:srgbClr val="202020"/>
                </a:solidFill>
                <a:latin typeface="Segoe UI"/>
              </a:rPr>
              <a:t>业务：受治理的多集群规模化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266944"/>
            <a:ext cx="50800" cy="5669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5494"/>
                </a:solidFill>
                <a:latin typeface="Segoe UI"/>
              </a:rPr>
              <a:t>下一步：运行客户演示 —— docs/customer-demo-end-to-end-runbook.md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