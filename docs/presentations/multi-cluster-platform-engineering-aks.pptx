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011680"/>
            <a:ext cx="5669280" cy="566928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1463040"/>
            <a:ext cx="4572000" cy="45720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KUBERNETES SERVICE  ·  PLATFORM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Multi-Cluster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 on AKS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GitOps-driven reference architecture for fleet-scale Kubernetes — self-service, secure, and governed by default.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983480"/>
            <a:ext cx="113842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983480"/>
            <a:ext cx="1138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Backstage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5980" y="4983480"/>
            <a:ext cx="850392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5980" y="498348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40964" y="4983480"/>
            <a:ext cx="1522476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0964" y="4983480"/>
            <a:ext cx="1522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 Rollouts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28032" y="4983480"/>
            <a:ext cx="1522476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4983480"/>
            <a:ext cx="1522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 Manager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15100" y="49834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5100" y="4983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Crossplane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14132" y="4983480"/>
            <a:ext cx="1042416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4132" y="49834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 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  |  Platform &amp; DevOps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multi-cluster challenge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teams scale on Kubernetes, fleets sprawl. Without a platform, every cluster becomes a snowflake and every team re-solves the same problems.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6583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31720"/>
            <a:ext cx="64008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25328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74620"/>
            <a:ext cx="283464" cy="2834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72768" y="2514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sprawl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572768" y="27523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clusters, inconsistent config, version drift across dev/stage/prod.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300984"/>
            <a:ext cx="6583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3300984"/>
            <a:ext cx="64008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841248" y="35021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643884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72768" y="348386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Cognitive load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1572768" y="3721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wrestle with infra plumbing instead of shipping product.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0080" y="4270248"/>
            <a:ext cx="6583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" y="4270248"/>
            <a:ext cx="64008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19"/>
          <p:cNvSpPr/>
          <p:nvPr/>
        </p:nvSpPr>
        <p:spPr>
          <a:xfrm>
            <a:off x="841248" y="44714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613148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72768" y="44531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Day-2 toil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1572768" y="4690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Upgrades, addons, patching and secret rotation done by hand, per cluster.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40080" y="5239512"/>
            <a:ext cx="6583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0080" y="5239512"/>
            <a:ext cx="64008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4"/>
          <p:cNvSpPr/>
          <p:nvPr/>
        </p:nvSpPr>
        <p:spPr>
          <a:xfrm>
            <a:off x="841248" y="5440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5582412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572768" y="54223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 guardrails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1572768" y="56601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policy enforced inconsistently — audit and compliance gaps.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543800" y="1417320"/>
            <a:ext cx="4023360" cy="484632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E1633">
                <a:alpha val="1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543800" y="1417320"/>
            <a:ext cx="4023360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5" name="Text 29"/>
          <p:cNvSpPr/>
          <p:nvPr/>
        </p:nvSpPr>
        <p:spPr>
          <a:xfrm>
            <a:off x="78181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COST OF NO PLATFORM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81812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3–6x</a:t>
            </a:r>
            <a:endParaRPr lang="en-US" sz="2800" dirty="0"/>
          </a:p>
        </p:txBody>
      </p:sp>
      <p:sp>
        <p:nvSpPr>
          <p:cNvPr id="37" name="Text 31"/>
          <p:cNvSpPr/>
          <p:nvPr/>
        </p:nvSpPr>
        <p:spPr>
          <a:xfrm>
            <a:off x="781812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infra effort across teams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7818120" y="32644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endParaRPr lang="en-US" sz="2800" dirty="0"/>
          </a:p>
        </p:txBody>
      </p:sp>
      <p:sp>
        <p:nvSpPr>
          <p:cNvPr id="39" name="Text 33"/>
          <p:cNvSpPr/>
          <p:nvPr/>
        </p:nvSpPr>
        <p:spPr>
          <a:xfrm>
            <a:off x="7818120" y="37673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provision a compliant new cluster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7818120" y="42885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2800" dirty="0"/>
          </a:p>
        </p:txBody>
      </p:sp>
      <p:sp>
        <p:nvSpPr>
          <p:cNvPr id="41" name="Text 35"/>
          <p:cNvSpPr/>
          <p:nvPr/>
        </p:nvSpPr>
        <p:spPr>
          <a:xfrm>
            <a:off x="7818120" y="47914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&amp; remediation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7818120" y="53126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Fragmented</a:t>
            </a:r>
            <a:endParaRPr lang="en-US" sz="2800" dirty="0"/>
          </a:p>
        </p:txBody>
      </p:sp>
      <p:sp>
        <p:nvSpPr>
          <p:cNvPr id="43" name="Text 37"/>
          <p:cNvSpPr/>
          <p:nvPr/>
        </p:nvSpPr>
        <p:spPr>
          <a:xfrm>
            <a:off x="7818120" y="581558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secrets &amp; observability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GitOps Bridge: one control plane, many clusters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bootstraps a control-plane cluster and hands desired state to ArgoCD. From there, Git is the single source of truth for every workload cluster and its addons.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OF TRUTH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560320"/>
            <a:ext cx="457200" cy="457200"/>
          </a:xfrm>
          <a:prstGeom prst="ellipse">
            <a:avLst/>
          </a:prstGeom>
          <a:solidFill>
            <a:srgbClr val="0E163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67462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53312" y="2542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Repository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353312" y="2816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· addons · clusters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3310128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4672" y="347472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358902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53312" y="3456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353312" y="3730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control plane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97764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 CLUSTER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977640" y="2395728"/>
            <a:ext cx="4023360" cy="356616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E1633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977640" y="2395728"/>
            <a:ext cx="402336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Shape 19"/>
          <p:cNvSpPr/>
          <p:nvPr/>
        </p:nvSpPr>
        <p:spPr>
          <a:xfrm>
            <a:off x="4206240" y="2606040"/>
            <a:ext cx="356616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70832" y="2770632"/>
            <a:ext cx="457200" cy="457200"/>
          </a:xfrm>
          <a:prstGeom prst="ellipse">
            <a:avLst/>
          </a:prstGeom>
          <a:solidFill>
            <a:srgbClr val="EF7B4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132" y="2884932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19472" y="27523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 — App of Apps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919472" y="3026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desired state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206240" y="3429000"/>
            <a:ext cx="356616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370832" y="35935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3707892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919472" y="3575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Addons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919472" y="3849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secrets · observability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4206240" y="4251960"/>
            <a:ext cx="356616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370832" y="4416552"/>
            <a:ext cx="457200" cy="457200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132" y="4530852"/>
            <a:ext cx="228600" cy="2286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919472" y="4398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IaaS Control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4919472" y="4672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/ CAPZ + ASO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4206240" y="51389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by Terraform · Day-2 ops hub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859536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 CLUSTERS (FLEET)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595360" y="2395728"/>
            <a:ext cx="2971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595360" y="2395728"/>
            <a:ext cx="64008" cy="7772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28" y="2615184"/>
            <a:ext cx="329184" cy="32918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235440" y="23957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Team A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9235440" y="2761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agent · auto-addons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8595360" y="3300984"/>
            <a:ext cx="2971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8595360" y="3300984"/>
            <a:ext cx="64008" cy="7772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28" y="3520440"/>
            <a:ext cx="329184" cy="32918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9235440" y="3300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Team B</a:t>
            </a:r>
            <a:endParaRPr lang="en-US" sz="1250" dirty="0"/>
          </a:p>
        </p:txBody>
      </p:sp>
      <p:sp>
        <p:nvSpPr>
          <p:cNvPr id="49" name="Text 40"/>
          <p:cNvSpPr/>
          <p:nvPr/>
        </p:nvSpPr>
        <p:spPr>
          <a:xfrm>
            <a:off x="9235440" y="3666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agent · auto-addons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8595360" y="4206240"/>
            <a:ext cx="2971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8595360" y="4206240"/>
            <a:ext cx="64008" cy="777240"/>
          </a:xfrm>
          <a:prstGeom prst="rect">
            <a:avLst/>
          </a:prstGeom>
          <a:solidFill>
            <a:srgbClr val="0E9E8E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528" y="4425696"/>
            <a:ext cx="329184" cy="329184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9235440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1250" dirty="0"/>
          </a:p>
        </p:txBody>
      </p:sp>
      <p:sp>
        <p:nvSpPr>
          <p:cNvPr id="54" name="Text 44"/>
          <p:cNvSpPr/>
          <p:nvPr/>
        </p:nvSpPr>
        <p:spPr>
          <a:xfrm>
            <a:off x="923544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agent · auto-addons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8595360" y="5111496"/>
            <a:ext cx="2971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8595360" y="5111496"/>
            <a:ext cx="64008" cy="777240"/>
          </a:xfrm>
          <a:prstGeom prst="rect">
            <a:avLst/>
          </a:prstGeom>
          <a:solidFill>
            <a:srgbClr val="0E1633"/>
          </a:solidFill>
          <a:ln/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6528" y="5330952"/>
            <a:ext cx="329184" cy="329184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9235440" y="5111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59" name="Text 48"/>
          <p:cNvSpPr/>
          <p:nvPr/>
        </p:nvSpPr>
        <p:spPr>
          <a:xfrm>
            <a:off x="9235440" y="5477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agent · auto-addons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3401568" y="2788920"/>
            <a:ext cx="5486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61" name="Shape 50"/>
          <p:cNvSpPr/>
          <p:nvPr/>
        </p:nvSpPr>
        <p:spPr>
          <a:xfrm>
            <a:off x="8019288" y="4160520"/>
            <a:ext cx="5486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62" name="Text 51"/>
          <p:cNvSpPr/>
          <p:nvPr/>
        </p:nvSpPr>
        <p:spPr>
          <a:xfrm>
            <a:off x="7973568" y="38221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PLATFORM AT A GLANCE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Nine capabilities, one cohesive platform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open-source-first and Azure-native — wired together through GitOps so the whole stack is reproducible from Git.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58444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11680"/>
            <a:ext cx="3584448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340864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510028"/>
            <a:ext cx="301752" cy="3017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19072" y="232257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 Portal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19072" y="27249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89120" y="2011680"/>
            <a:ext cx="358444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0" y="2011680"/>
            <a:ext cx="3584448" cy="54864"/>
          </a:xfrm>
          <a:prstGeom prst="rect">
            <a:avLst/>
          </a:prstGeom>
          <a:solidFill>
            <a:srgbClr val="EF7B4D"/>
          </a:solidFill>
          <a:ln/>
        </p:spPr>
      </p:sp>
      <p:sp>
        <p:nvSpPr>
          <p:cNvPr id="17" name="Shape 14"/>
          <p:cNvSpPr/>
          <p:nvPr/>
        </p:nvSpPr>
        <p:spPr>
          <a:xfrm>
            <a:off x="4645152" y="2340864"/>
            <a:ext cx="640080" cy="640080"/>
          </a:xfrm>
          <a:prstGeom prst="ellipse">
            <a:avLst/>
          </a:prstGeom>
          <a:solidFill>
            <a:srgbClr val="EF7B4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2510028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68112" y="232257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GitOps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68112" y="27249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38160" y="2011680"/>
            <a:ext cx="358444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38160" y="2011680"/>
            <a:ext cx="3584448" cy="54864"/>
          </a:xfrm>
          <a:prstGeom prst="rect">
            <a:avLst/>
          </a:prstGeom>
          <a:solidFill>
            <a:srgbClr val="0E9E8E"/>
          </a:solidFill>
          <a:ln/>
        </p:spPr>
      </p:sp>
      <p:sp>
        <p:nvSpPr>
          <p:cNvPr id="23" name="Shape 19"/>
          <p:cNvSpPr/>
          <p:nvPr/>
        </p:nvSpPr>
        <p:spPr>
          <a:xfrm>
            <a:off x="8394192" y="2340864"/>
            <a:ext cx="640080" cy="640080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56" y="2510028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217152" y="232257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Progressive Delivery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217152" y="27249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Rollouts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40080" y="3456432"/>
            <a:ext cx="358444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0080" y="3456432"/>
            <a:ext cx="3584448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4"/>
          <p:cNvSpPr/>
          <p:nvPr/>
        </p:nvSpPr>
        <p:spPr>
          <a:xfrm>
            <a:off x="896112" y="3785616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3954780"/>
            <a:ext cx="301752" cy="30175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719072" y="376732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Multi-Cluster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719072" y="4169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Fleet Manager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389120" y="3456432"/>
            <a:ext cx="358444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389120" y="3456432"/>
            <a:ext cx="3584448" cy="54864"/>
          </a:xfrm>
          <a:prstGeom prst="rect">
            <a:avLst/>
          </a:prstGeom>
          <a:solidFill>
            <a:srgbClr val="7B42BC"/>
          </a:solidFill>
          <a:ln/>
        </p:spPr>
      </p:sp>
      <p:sp>
        <p:nvSpPr>
          <p:cNvPr id="35" name="Shape 29"/>
          <p:cNvSpPr/>
          <p:nvPr/>
        </p:nvSpPr>
        <p:spPr>
          <a:xfrm>
            <a:off x="4645152" y="3785616"/>
            <a:ext cx="640080" cy="64008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316" y="3954780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468112" y="376732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Infra-as-Service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5468112" y="4169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 / CAPZ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8138160" y="3456432"/>
            <a:ext cx="358444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138160" y="3456432"/>
            <a:ext cx="3584448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1" name="Shape 34"/>
          <p:cNvSpPr/>
          <p:nvPr/>
        </p:nvSpPr>
        <p:spPr>
          <a:xfrm>
            <a:off x="8394192" y="3785616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356" y="3954780"/>
            <a:ext cx="301752" cy="30175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217152" y="376732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217152" y="41696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640080" y="4901184"/>
            <a:ext cx="358444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40080" y="4901184"/>
            <a:ext cx="3584448" cy="54864"/>
          </a:xfrm>
          <a:prstGeom prst="rect">
            <a:avLst/>
          </a:prstGeom>
          <a:solidFill>
            <a:srgbClr val="D29200"/>
          </a:solidFill>
          <a:ln/>
        </p:spPr>
      </p:sp>
      <p:sp>
        <p:nvSpPr>
          <p:cNvPr id="47" name="Shape 39"/>
          <p:cNvSpPr/>
          <p:nvPr/>
        </p:nvSpPr>
        <p:spPr>
          <a:xfrm>
            <a:off x="896112" y="5230368"/>
            <a:ext cx="640080" cy="640080"/>
          </a:xfrm>
          <a:prstGeom prst="ellipse">
            <a:avLst/>
          </a:prstGeom>
          <a:solidFill>
            <a:srgbClr val="D29200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276" y="5399532"/>
            <a:ext cx="301752" cy="30175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719072" y="52120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1719072" y="561441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+ CSI</a:t>
            </a:r>
            <a:endParaRPr lang="en-US" sz="1150" dirty="0"/>
          </a:p>
        </p:txBody>
      </p:sp>
      <p:sp>
        <p:nvSpPr>
          <p:cNvPr id="51" name="Shape 42"/>
          <p:cNvSpPr/>
          <p:nvPr/>
        </p:nvSpPr>
        <p:spPr>
          <a:xfrm>
            <a:off x="4389120" y="4901184"/>
            <a:ext cx="358444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4389120" y="4901184"/>
            <a:ext cx="3584448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3" name="Shape 44"/>
          <p:cNvSpPr/>
          <p:nvPr/>
        </p:nvSpPr>
        <p:spPr>
          <a:xfrm>
            <a:off x="4645152" y="523036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4316" y="5399532"/>
            <a:ext cx="301752" cy="301752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5468112" y="52120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56" name="Text 46"/>
          <p:cNvSpPr/>
          <p:nvPr/>
        </p:nvSpPr>
        <p:spPr>
          <a:xfrm>
            <a:off x="5468112" y="561441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Prom · Grafana</a:t>
            </a:r>
            <a:endParaRPr lang="en-US" sz="1150" dirty="0"/>
          </a:p>
        </p:txBody>
      </p:sp>
      <p:sp>
        <p:nvSpPr>
          <p:cNvPr id="57" name="Shape 47"/>
          <p:cNvSpPr/>
          <p:nvPr/>
        </p:nvSpPr>
        <p:spPr>
          <a:xfrm>
            <a:off x="8138160" y="4901184"/>
            <a:ext cx="358444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58" name="Shape 48"/>
          <p:cNvSpPr/>
          <p:nvPr/>
        </p:nvSpPr>
        <p:spPr>
          <a:xfrm>
            <a:off x="8138160" y="4901184"/>
            <a:ext cx="3584448" cy="54864"/>
          </a:xfrm>
          <a:prstGeom prst="rect">
            <a:avLst/>
          </a:prstGeom>
          <a:solidFill>
            <a:srgbClr val="0E9E8E"/>
          </a:solidFill>
          <a:ln/>
        </p:spPr>
      </p:sp>
      <p:sp>
        <p:nvSpPr>
          <p:cNvPr id="59" name="Shape 49"/>
          <p:cNvSpPr/>
          <p:nvPr/>
        </p:nvSpPr>
        <p:spPr>
          <a:xfrm>
            <a:off x="8394192" y="5230368"/>
            <a:ext cx="640080" cy="640080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3356" y="5399532"/>
            <a:ext cx="301752" cy="301752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9217152" y="52120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1400" dirty="0"/>
          </a:p>
        </p:txBody>
      </p:sp>
      <p:sp>
        <p:nvSpPr>
          <p:cNvPr id="62" name="Text 51"/>
          <p:cNvSpPr/>
          <p:nvPr/>
        </p:nvSpPr>
        <p:spPr>
          <a:xfrm>
            <a:off x="9217152" y="561441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· Gatekeeper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Backstage — the developer's front door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794760" cy="489204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E16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379476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78308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093976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1546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Backstage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1440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SELF-SERVICE DEVELOPER PORTAL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370832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developer portal (by Spotify) that unifies catalog, docs and golden-path templates.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80644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 ID SSO · auto-onboarding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01184" y="165506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79222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 Catalog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inventory of services, clusters and ownership across the fleet.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7532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513064" y="165506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7922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Golden-path Templates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54964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new cluster or app via a guided form that emits a PR.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901184" y="33009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43814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TechDocs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3776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Docs-as-code rendered in-portal, versioned next to the source.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27532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13064" y="33009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343814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4400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Ecosystem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54964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ArgoCD, Kubernetes &amp; cloud cost as native portal tabs.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663440" y="5943600"/>
            <a:ext cx="7040880" cy="384048"/>
          </a:xfrm>
          <a:prstGeom prst="rect">
            <a:avLst/>
          </a:prstGeom>
          <a:solidFill>
            <a:srgbClr val="CFE6F0"/>
          </a:solidFill>
          <a:ln/>
        </p:spPr>
      </p:sp>
      <p:sp>
        <p:nvSpPr>
          <p:cNvPr id="38" name="Shape 31"/>
          <p:cNvSpPr/>
          <p:nvPr/>
        </p:nvSpPr>
        <p:spPr>
          <a:xfrm>
            <a:off x="4663440" y="5943600"/>
            <a:ext cx="54864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2"/>
          <p:cNvSpPr/>
          <p:nvPr/>
        </p:nvSpPr>
        <p:spPr>
          <a:xfrm>
            <a:off x="4846320" y="59436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repo: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backstage/ image with Entra auth + an example cluster-creation template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GITOPS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 — Git as the single source of truth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794760" cy="489204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E16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3794760" cy="73152"/>
          </a:xfrm>
          <a:prstGeom prst="rect">
            <a:avLst/>
          </a:prstGeom>
          <a:solidFill>
            <a:srgbClr val="EF7B4D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783080"/>
            <a:ext cx="1188720" cy="1188720"/>
          </a:xfrm>
          <a:prstGeom prst="ellipse">
            <a:avLst/>
          </a:prstGeom>
          <a:solidFill>
            <a:srgbClr val="EF7B4D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093976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1546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1440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7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DECLARATIVE GITOPS ENGINE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370832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reconciles cluster state to match Git — self-healing and fully auditable.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80644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EF7B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App-of-Apps · ApplicationSets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01184" y="1655064"/>
            <a:ext cx="512064" cy="512064"/>
          </a:xfrm>
          <a:prstGeom prst="ellipse">
            <a:avLst/>
          </a:prstGeom>
          <a:solidFill>
            <a:srgbClr val="EF7B4D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79222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of Apps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app bootstraps every addon under the control-plane folder.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7532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513064" y="1655064"/>
            <a:ext cx="512064" cy="512064"/>
          </a:xfrm>
          <a:prstGeom prst="ellipse">
            <a:avLst/>
          </a:prstGeom>
          <a:solidFill>
            <a:srgbClr val="EF7B4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7922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ApplicationSets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54964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 apps fan out across the whole cluster fleet automatically.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901184" y="3300984"/>
            <a:ext cx="512064" cy="512064"/>
          </a:xfrm>
          <a:prstGeom prst="ellipse">
            <a:avLst/>
          </a:prstGeom>
          <a:solidFill>
            <a:srgbClr val="EF7B4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43814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Self-Healing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3776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from Git is detected and continuously reconciled back.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27532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13064" y="3300984"/>
            <a:ext cx="512064" cy="512064"/>
          </a:xfrm>
          <a:prstGeom prst="ellipse">
            <a:avLst/>
          </a:prstGeom>
          <a:solidFill>
            <a:srgbClr val="EF7B4D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343814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4400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Auditable &amp; Reversible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54964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 Git commit — diff, review, roll back.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663440" y="5943600"/>
            <a:ext cx="7040880" cy="384048"/>
          </a:xfrm>
          <a:prstGeom prst="rect">
            <a:avLst/>
          </a:prstGeom>
          <a:solidFill>
            <a:srgbClr val="CFE6F0"/>
          </a:solidFill>
          <a:ln/>
        </p:spPr>
      </p:sp>
      <p:sp>
        <p:nvSpPr>
          <p:cNvPr id="38" name="Shape 31"/>
          <p:cNvSpPr/>
          <p:nvPr/>
        </p:nvSpPr>
        <p:spPr>
          <a:xfrm>
            <a:off x="4663440" y="5943600"/>
            <a:ext cx="54864" cy="384048"/>
          </a:xfrm>
          <a:prstGeom prst="rect">
            <a:avLst/>
          </a:prstGeom>
          <a:solidFill>
            <a:srgbClr val="EF7B4D"/>
          </a:solidFill>
          <a:ln/>
        </p:spPr>
      </p:sp>
      <p:sp>
        <p:nvSpPr>
          <p:cNvPr id="39" name="Text 32"/>
          <p:cNvSpPr/>
          <p:nvPr/>
        </p:nvSpPr>
        <p:spPr>
          <a:xfrm>
            <a:off x="4846320" y="59436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repo: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gitops/bootstrap/control-plane/addons synced via an ApplicationSet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PROGRESSIVE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 Rollouts — ship safely, automatically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794760" cy="489204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E16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3794760" cy="73152"/>
          </a:xfrm>
          <a:prstGeom prst="rect">
            <a:avLst/>
          </a:prstGeom>
          <a:solidFill>
            <a:srgbClr val="0E9E8E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783080"/>
            <a:ext cx="1188720" cy="1188720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093976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1546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 Rollouts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1440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PROGRESSIVE DELIVERY CONTROLLER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370832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deployment strategies with metric-driven analysis and automated rollback.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80644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Canary · Blue-Green · Analysis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01184" y="1655064"/>
            <a:ext cx="512064" cy="512064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79222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Canary Releases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traffic in steps; halt instantly if metrics regress.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7532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513064" y="1655064"/>
            <a:ext cx="512064" cy="512064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7922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Blue-Green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54964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new version, verify, then cut over atomically.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901184" y="3300984"/>
            <a:ext cx="512064" cy="512064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43814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Analysis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3776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or abort based on Prometheus/Grafana SLOs.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27532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13064" y="3300984"/>
            <a:ext cx="512064" cy="512064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343814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4400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 Rollback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54964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analysis auto-reverts to the last good revision.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663440" y="5943600"/>
            <a:ext cx="7040880" cy="384048"/>
          </a:xfrm>
          <a:prstGeom prst="rect">
            <a:avLst/>
          </a:prstGeom>
          <a:solidFill>
            <a:srgbClr val="CFE6F0"/>
          </a:solidFill>
          <a:ln/>
        </p:spPr>
      </p:sp>
      <p:sp>
        <p:nvSpPr>
          <p:cNvPr id="38" name="Shape 31"/>
          <p:cNvSpPr/>
          <p:nvPr/>
        </p:nvSpPr>
        <p:spPr>
          <a:xfrm>
            <a:off x="4663440" y="5943600"/>
            <a:ext cx="54864" cy="384048"/>
          </a:xfrm>
          <a:prstGeom prst="rect">
            <a:avLst/>
          </a:prstGeom>
          <a:solidFill>
            <a:srgbClr val="0E9E8E"/>
          </a:solidFill>
          <a:ln/>
        </p:spPr>
      </p:sp>
      <p:sp>
        <p:nvSpPr>
          <p:cNvPr id="39" name="Text 32"/>
          <p:cNvSpPr/>
          <p:nvPr/>
        </p:nvSpPr>
        <p:spPr>
          <a:xfrm>
            <a:off x="4846320" y="59436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repo: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control-plane addon; pairs with managed Prometheus metrics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MULTI-CLUSTER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Kubernetes Fleet Manager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794760" cy="489204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E16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3794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78308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093976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1546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 Manager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1440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FLEET-SCALE ORCHESTRATION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370832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hub to manage updates, workloads and traffic across many AKS clusters at once.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80644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 cluster · member clusters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01184" y="165506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79222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 Hub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clusters and manage them as one logical unit.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7532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513064" y="165506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7922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Orchestration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54964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Kubernetes &amp; node upgrades safely across the fleet.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901184" y="33009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43814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 Propagation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3776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and replicate resources to selected member clusters.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27532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13064" y="33009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343814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4400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Multi-Cluster L4 LB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54964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traffic across clusters for HA and locality.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663440" y="5943600"/>
            <a:ext cx="7040880" cy="384048"/>
          </a:xfrm>
          <a:prstGeom prst="rect">
            <a:avLst/>
          </a:prstGeom>
          <a:solidFill>
            <a:srgbClr val="CFE6F0"/>
          </a:solidFill>
          <a:ln/>
        </p:spPr>
      </p:sp>
      <p:sp>
        <p:nvSpPr>
          <p:cNvPr id="38" name="Shape 31"/>
          <p:cNvSpPr/>
          <p:nvPr/>
        </p:nvSpPr>
        <p:spPr>
          <a:xfrm>
            <a:off x="4663440" y="5943600"/>
            <a:ext cx="5486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2"/>
          <p:cNvSpPr/>
          <p:nvPr/>
        </p:nvSpPr>
        <p:spPr>
          <a:xfrm>
            <a:off x="4846320" y="59436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repo: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GitOps: ArgoCD owns config, Fleet owns rollout/upgrade orchestration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INFRASTRUCTURE-AS-SERVICE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Crossplane &amp; CAPZ: Azure infra as Kubernetes objects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Kubernetes control plane provisions Azure infrastructure declaratively. Pick the provider per your org — both are GitOps-managed and swappable via one Terraform variable.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5394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03120"/>
            <a:ext cx="5394960" cy="777240"/>
          </a:xfrm>
          <a:prstGeom prst="rect">
            <a:avLst/>
          </a:prstGeom>
          <a:solidFill>
            <a:srgbClr val="0E163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103120"/>
            <a:ext cx="64008" cy="3703320"/>
          </a:xfrm>
          <a:prstGeom prst="rect">
            <a:avLst/>
          </a:prstGeom>
          <a:solidFill>
            <a:srgbClr val="7B42BC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2258568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372868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81328" y="21945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Crossplane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81328" y="2523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CLOUD-AGNOSTIC CONTROL PLANE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05840" y="30632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project; multi-cloud with one consistent YAML model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provider built on the Terraform Go SDK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you value multi-cloud portability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" y="5349240"/>
            <a:ext cx="5330952" cy="4572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for multi-cloud, consistent IaC across providers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200" y="2103120"/>
            <a:ext cx="5394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2103120"/>
            <a:ext cx="5394960" cy="777240"/>
          </a:xfrm>
          <a:prstGeom prst="rect">
            <a:avLst/>
          </a:prstGeom>
          <a:solidFill>
            <a:srgbClr val="0E1633"/>
          </a:solidFill>
          <a:ln/>
        </p:spPr>
      </p:sp>
      <p:sp>
        <p:nvSpPr>
          <p:cNvPr id="21" name="Shape 18"/>
          <p:cNvSpPr/>
          <p:nvPr/>
        </p:nvSpPr>
        <p:spPr>
          <a:xfrm>
            <a:off x="6172200" y="2103120"/>
            <a:ext cx="64008" cy="37033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2" name="Shape 19"/>
          <p:cNvSpPr/>
          <p:nvPr/>
        </p:nvSpPr>
        <p:spPr>
          <a:xfrm>
            <a:off x="6428232" y="225856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2372868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13448" y="21945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CAPZ + ASO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013448" y="2523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AZURE-NATIVE, MICROSOFT-SUPPORTED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537960" y="30632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API for Azure; ASO maps 1:1 to Azure APIs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API coverage, direct from source of truth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import existing AKS clusters into GitOps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236208" y="5349240"/>
            <a:ext cx="5330952" cy="4572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8" name="Text 24"/>
          <p:cNvSpPr/>
          <p:nvPr/>
        </p:nvSpPr>
        <p:spPr>
          <a:xfrm>
            <a:off x="653796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Choose for Azure-first, full API fidelity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0080" y="5989320"/>
            <a:ext cx="10927080" cy="384048"/>
          </a:xfrm>
          <a:prstGeom prst="rect">
            <a:avLst/>
          </a:prstGeom>
          <a:solidFill>
            <a:srgbClr val="CF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640080" y="5989320"/>
            <a:ext cx="54864" cy="3840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1" name="Text 27"/>
          <p:cNvSpPr/>
          <p:nvPr/>
        </p:nvSpPr>
        <p:spPr>
          <a:xfrm>
            <a:off x="822960" y="59893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providers: 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-var infrastructure_provider=crossplane|capz   (default: capz)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Entra ID — identity for the fleet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794760" cy="489204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E16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379476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78308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093976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1546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Entra ID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1440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CENTRALIZED IDENTITY &amp; ACCESS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370832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 plane for humans and workloads — SSO, RBAC and passwordless workload auth.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80644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 Identity · RBAC · SSO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01184" y="1655064"/>
            <a:ext cx="512064" cy="512064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79222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 Identity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get federated tokens — no secrets, no service-principal sprawl.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7532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513064" y="1655064"/>
            <a:ext cx="512064" cy="512064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7922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RBAC for AKS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54964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Entra groups to least-privilege Kubernetes roles.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901184" y="3300984"/>
            <a:ext cx="512064" cy="512064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43814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Sign-On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3776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login for portal, ArgoCD and Grafana across clusters.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27532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13064" y="3300984"/>
            <a:ext cx="512064" cy="512064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343814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4400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 Access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54964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policy-based access to sensitive control planes.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663440" y="5943600"/>
            <a:ext cx="7040880" cy="384048"/>
          </a:xfrm>
          <a:prstGeom prst="rect">
            <a:avLst/>
          </a:prstGeom>
          <a:solidFill>
            <a:srgbClr val="CFE6F0"/>
          </a:solidFill>
          <a:ln/>
        </p:spPr>
      </p:sp>
      <p:sp>
        <p:nvSpPr>
          <p:cNvPr id="38" name="Shape 31"/>
          <p:cNvSpPr/>
          <p:nvPr/>
        </p:nvSpPr>
        <p:spPr>
          <a:xfrm>
            <a:off x="4663440" y="5943600"/>
            <a:ext cx="54864" cy="3840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9" name="Text 32"/>
          <p:cNvSpPr/>
          <p:nvPr/>
        </p:nvSpPr>
        <p:spPr>
          <a:xfrm>
            <a:off x="4846320" y="59436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repo: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 onboards Entra users/groups automatically via the auth plugin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Key Vault + Secrets Store CSI Driver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794760" cy="489204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E16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3794760" cy="73152"/>
          </a:xfrm>
          <a:prstGeom prst="rect">
            <a:avLst/>
          </a:prstGeom>
          <a:solidFill>
            <a:srgbClr val="D29200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783080"/>
            <a:ext cx="1188720" cy="1188720"/>
          </a:xfrm>
          <a:prstGeom prst="ellipse">
            <a:avLst/>
          </a:prstGeom>
          <a:solidFill>
            <a:srgbClr val="D2920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093976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1546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Vault + CSI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1440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9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CENTRALIZED SECRETS MANAGEMENT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370832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keys and certs stay in Key Vault and are mounted into pods on demand — never in Git.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80644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D292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secrets in Git · auto-rotation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01184" y="1655064"/>
            <a:ext cx="512064" cy="512064"/>
          </a:xfrm>
          <a:prstGeom prst="ellipse">
            <a:avLst/>
          </a:prstGeom>
          <a:solidFill>
            <a:srgbClr val="D2920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79222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CSI Volume Mounts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surface as files (or env) via the Secrets Store CSI driver.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7532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513064" y="1655064"/>
            <a:ext cx="512064" cy="512064"/>
          </a:xfrm>
          <a:prstGeom prst="ellipse">
            <a:avLst/>
          </a:prstGeom>
          <a:solidFill>
            <a:srgbClr val="D2920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7922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 Identity Auth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54964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authenticate to Key Vault with federated tokens, not keys.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901184" y="3300984"/>
            <a:ext cx="512064" cy="512064"/>
          </a:xfrm>
          <a:prstGeom prst="ellipse">
            <a:avLst/>
          </a:prstGeom>
          <a:solidFill>
            <a:srgbClr val="D29200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43814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 Rotation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3776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polling keeps mounted secrets fresh without redeploys.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27532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13064" y="3300984"/>
            <a:ext cx="512064" cy="512064"/>
          </a:xfrm>
          <a:prstGeom prst="ellipse">
            <a:avLst/>
          </a:prstGeom>
          <a:solidFill>
            <a:srgbClr val="D29200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343814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4400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 &amp; Certificates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54964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TLS certs and encryption keys from one hardened store.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663440" y="5943600"/>
            <a:ext cx="7040880" cy="384048"/>
          </a:xfrm>
          <a:prstGeom prst="rect">
            <a:avLst/>
          </a:prstGeom>
          <a:solidFill>
            <a:srgbClr val="CFE6F0"/>
          </a:solidFill>
          <a:ln/>
        </p:spPr>
      </p:sp>
      <p:sp>
        <p:nvSpPr>
          <p:cNvPr id="38" name="Shape 31"/>
          <p:cNvSpPr/>
          <p:nvPr/>
        </p:nvSpPr>
        <p:spPr>
          <a:xfrm>
            <a:off x="4663440" y="5943600"/>
            <a:ext cx="54864" cy="384048"/>
          </a:xfrm>
          <a:prstGeom prst="rect">
            <a:avLst/>
          </a:prstGeom>
          <a:solidFill>
            <a:srgbClr val="D29200"/>
          </a:solidFill>
          <a:ln/>
        </p:spPr>
      </p:sp>
      <p:sp>
        <p:nvSpPr>
          <p:cNvPr id="39" name="Text 32"/>
          <p:cNvSpPr/>
          <p:nvPr/>
        </p:nvSpPr>
        <p:spPr>
          <a:xfrm>
            <a:off x="4846320" y="59436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repo: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as a platform addon; pairs with Entra workload identity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 metrics, logs &amp; traces across the fleet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Azure-managed telemetry collected once and shared fleet-wide. OpenTelemetry standardizes instrumentation; managed Prometheus &amp; Grafana keep ops cost low.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267004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57400"/>
            <a:ext cx="2670048" cy="64008"/>
          </a:xfrm>
          <a:prstGeom prst="rect">
            <a:avLst/>
          </a:prstGeom>
          <a:solidFill>
            <a:srgbClr val="425CC7"/>
          </a:solidFill>
          <a:ln/>
        </p:spPr>
      </p:sp>
      <p:sp>
        <p:nvSpPr>
          <p:cNvPr id="11" name="Shape 9"/>
          <p:cNvSpPr/>
          <p:nvPr/>
        </p:nvSpPr>
        <p:spPr>
          <a:xfrm>
            <a:off x="1563624" y="2377440"/>
            <a:ext cx="822960" cy="822960"/>
          </a:xfrm>
          <a:prstGeom prst="ellipse">
            <a:avLst/>
          </a:prstGeom>
          <a:solidFill>
            <a:srgbClr val="425CC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596896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33375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OpenTelemetry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368503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5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instrumentation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59536" y="403250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SDK/collector for traces, metrics &amp; logs across every service.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0" y="2057400"/>
            <a:ext cx="267004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0" y="2057400"/>
            <a:ext cx="2670048" cy="64008"/>
          </a:xfrm>
          <a:prstGeom prst="rect">
            <a:avLst/>
          </a:prstGeom>
          <a:solidFill>
            <a:srgbClr val="E6522C"/>
          </a:solidFill>
          <a:ln/>
        </p:spPr>
      </p:sp>
      <p:sp>
        <p:nvSpPr>
          <p:cNvPr id="18" name="Shape 15"/>
          <p:cNvSpPr/>
          <p:nvPr/>
        </p:nvSpPr>
        <p:spPr>
          <a:xfrm>
            <a:off x="4398264" y="2377440"/>
            <a:ext cx="822960" cy="822960"/>
          </a:xfrm>
          <a:prstGeom prst="ellipse">
            <a:avLst/>
          </a:prstGeom>
          <a:solidFill>
            <a:srgbClr val="E6522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596896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7600" y="33375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Prometheus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657600" y="368503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5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at fleet scale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694176" y="403250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Fully-managed, auto-scaling metric store — no Prometheus servers to run.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309360" y="2057400"/>
            <a:ext cx="267004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309360" y="2057400"/>
            <a:ext cx="2670048" cy="64008"/>
          </a:xfrm>
          <a:prstGeom prst="rect">
            <a:avLst/>
          </a:prstGeom>
          <a:solidFill>
            <a:srgbClr val="F46800"/>
          </a:solidFill>
          <a:ln/>
        </p:spPr>
      </p:sp>
      <p:sp>
        <p:nvSpPr>
          <p:cNvPr id="25" name="Shape 21"/>
          <p:cNvSpPr/>
          <p:nvPr/>
        </p:nvSpPr>
        <p:spPr>
          <a:xfrm>
            <a:off x="7232904" y="2377440"/>
            <a:ext cx="822960" cy="822960"/>
          </a:xfrm>
          <a:prstGeom prst="ellipse">
            <a:avLst/>
          </a:prstGeom>
          <a:solidFill>
            <a:srgbClr val="F46800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596896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92240" y="33375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Grafana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492240" y="368503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alerting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528816" y="403250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cross-cluster dashboards with Entra ID SSO and shared alerts.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144000" y="2057400"/>
            <a:ext cx="267004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144000" y="2057400"/>
            <a:ext cx="2670048" cy="640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2" name="Shape 27"/>
          <p:cNvSpPr/>
          <p:nvPr/>
        </p:nvSpPr>
        <p:spPr>
          <a:xfrm>
            <a:off x="10067544" y="2377440"/>
            <a:ext cx="822960" cy="82296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596896"/>
            <a:ext cx="384048" cy="38404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326880" y="33375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Monitor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9326880" y="368503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platform insight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9363456" y="403250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Insights, Log Analytics (KQL) and health alerts in one pane.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40080" y="5074920"/>
            <a:ext cx="10927080" cy="91440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40080" y="5074920"/>
            <a:ext cx="64008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9" name="Text 33"/>
          <p:cNvSpPr/>
          <p:nvPr/>
        </p:nvSpPr>
        <p:spPr>
          <a:xfrm>
            <a:off x="91440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 PIPELINE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914400" y="5486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(OTel SDK)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3108960" y="54864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3566160" y="5486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5760720" y="54864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38"/>
          <p:cNvSpPr/>
          <p:nvPr/>
        </p:nvSpPr>
        <p:spPr>
          <a:xfrm>
            <a:off x="6217920" y="5486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Prometheus / Log Analytics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8412480" y="54864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8869680" y="5486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Grafana &amp; Alerts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&amp; GOVERNANCE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Policy + Gatekeeper guardrails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794760" cy="489204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E16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3794760" cy="73152"/>
          </a:xfrm>
          <a:prstGeom prst="rect">
            <a:avLst/>
          </a:prstGeom>
          <a:solidFill>
            <a:srgbClr val="0E9E8E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783080"/>
            <a:ext cx="1188720" cy="1188720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093976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1546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+ Gatekeeper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1440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 &amp; COMPLIANCE AT SCALE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370832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Platform-defined guardrails enforced on every cluster — admission control plus continuous audit.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580644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0E9E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 constraints · audit at scale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01184" y="1655064"/>
            <a:ext cx="512064" cy="512064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79222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 Control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 (OPA) blocks non-compliant resources at deploy time.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75320" y="141732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513064" y="1655064"/>
            <a:ext cx="512064" cy="512064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7922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0" y="16367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Audit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54964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reports compliance across the whole fleet.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901184" y="3300984"/>
            <a:ext cx="512064" cy="512064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43814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Guardrails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3776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limits dev teams operate within — safe by default.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275320" y="3063240"/>
            <a:ext cx="3429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13064" y="3300984"/>
            <a:ext cx="512064" cy="512064"/>
          </a:xfrm>
          <a:prstGeom prst="ellipse">
            <a:avLst/>
          </a:prstGeom>
          <a:solidFill>
            <a:srgbClr val="0E9E8E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343814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44000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 Initiatives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549640" y="3904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CIS/PSS baselines to AKS with managed policy sets.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663440" y="5943600"/>
            <a:ext cx="7040880" cy="384048"/>
          </a:xfrm>
          <a:prstGeom prst="rect">
            <a:avLst/>
          </a:prstGeom>
          <a:solidFill>
            <a:srgbClr val="CFE6F0"/>
          </a:solidFill>
          <a:ln/>
        </p:spPr>
      </p:sp>
      <p:sp>
        <p:nvSpPr>
          <p:cNvPr id="38" name="Shape 31"/>
          <p:cNvSpPr/>
          <p:nvPr/>
        </p:nvSpPr>
        <p:spPr>
          <a:xfrm>
            <a:off x="4663440" y="5943600"/>
            <a:ext cx="54864" cy="384048"/>
          </a:xfrm>
          <a:prstGeom prst="rect">
            <a:avLst/>
          </a:prstGeom>
          <a:solidFill>
            <a:srgbClr val="0E9E8E"/>
          </a:solidFill>
          <a:ln/>
        </p:spPr>
      </p:sp>
      <p:sp>
        <p:nvSpPr>
          <p:cNvPr id="39" name="Text 32"/>
          <p:cNvSpPr/>
          <p:nvPr/>
        </p:nvSpPr>
        <p:spPr>
          <a:xfrm>
            <a:off x="4846320" y="59436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repo: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add-on for AKS ships Gatekeeper; constraints managed via GitOps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 a new dev team — end to end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Platform Engineering on AKS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from a portal click to a running, governed cluster — no tickets, no manual kubectl, fully auditable in Git.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0848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48840"/>
            <a:ext cx="2084832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2468880"/>
            <a:ext cx="768096" cy="768096"/>
          </a:xfrm>
          <a:prstGeom prst="ellipse">
            <a:avLst/>
          </a:prstGeom>
          <a:solidFill>
            <a:srgbClr val="0E1633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2468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3447288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7240" y="3977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436168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fills a Backstage software template (cluster name, size, region).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706624" y="3429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852928" y="2148840"/>
            <a:ext cx="20848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852928" y="2148840"/>
            <a:ext cx="2084832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Shape 16"/>
          <p:cNvSpPr/>
          <p:nvPr/>
        </p:nvSpPr>
        <p:spPr>
          <a:xfrm>
            <a:off x="3511296" y="2468880"/>
            <a:ext cx="768096" cy="768096"/>
          </a:xfrm>
          <a:prstGeom prst="ellipse">
            <a:avLst/>
          </a:prstGeom>
          <a:solidFill>
            <a:srgbClr val="0E1633"/>
          </a:solidFill>
          <a:ln/>
        </p:spPr>
      </p:sp>
      <p:sp>
        <p:nvSpPr>
          <p:cNvPr id="20" name="Text 17"/>
          <p:cNvSpPr/>
          <p:nvPr/>
        </p:nvSpPr>
        <p:spPr>
          <a:xfrm>
            <a:off x="3511296" y="2468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447288"/>
            <a:ext cx="438912" cy="4389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990088" y="3977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035808" y="436168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renders manifests and opens a PR — platform team reviews &amp; approves.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919472" y="3429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065776" y="2148840"/>
            <a:ext cx="20848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65776" y="2148840"/>
            <a:ext cx="2084832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Shape 23"/>
          <p:cNvSpPr/>
          <p:nvPr/>
        </p:nvSpPr>
        <p:spPr>
          <a:xfrm>
            <a:off x="5724144" y="2468880"/>
            <a:ext cx="768096" cy="768096"/>
          </a:xfrm>
          <a:prstGeom prst="ellipse">
            <a:avLst/>
          </a:prstGeom>
          <a:solidFill>
            <a:srgbClr val="0E1633"/>
          </a:solidFill>
          <a:ln/>
        </p:spPr>
      </p:sp>
      <p:sp>
        <p:nvSpPr>
          <p:cNvPr id="28" name="Text 24"/>
          <p:cNvSpPr/>
          <p:nvPr/>
        </p:nvSpPr>
        <p:spPr>
          <a:xfrm>
            <a:off x="5724144" y="2468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3447288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202936" y="3977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248656" y="436168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App-of-Apps detects the merge and provisions the cluster via CAPZ/Crossplane.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7132320" y="3429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7278624" y="2148840"/>
            <a:ext cx="20848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278624" y="2148840"/>
            <a:ext cx="2084832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5" name="Shape 30"/>
          <p:cNvSpPr/>
          <p:nvPr/>
        </p:nvSpPr>
        <p:spPr>
          <a:xfrm>
            <a:off x="7936992" y="2468880"/>
            <a:ext cx="768096" cy="768096"/>
          </a:xfrm>
          <a:prstGeom prst="ellipse">
            <a:avLst/>
          </a:prstGeom>
          <a:solidFill>
            <a:srgbClr val="0E1633"/>
          </a:solidFill>
          <a:ln/>
        </p:spPr>
      </p:sp>
      <p:sp>
        <p:nvSpPr>
          <p:cNvPr id="36" name="Text 31"/>
          <p:cNvSpPr/>
          <p:nvPr/>
        </p:nvSpPr>
        <p:spPr>
          <a:xfrm>
            <a:off x="7936992" y="2468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3447288"/>
            <a:ext cx="438912" cy="43891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415784" y="3977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Auto-addons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7461504" y="436168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cluster auto-installs policy, secrets, identity &amp; observability addons.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9345168" y="3429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5"/>
          <p:cNvSpPr/>
          <p:nvPr/>
        </p:nvSpPr>
        <p:spPr>
          <a:xfrm>
            <a:off x="9491472" y="2148840"/>
            <a:ext cx="20848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E1633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491472" y="2148840"/>
            <a:ext cx="2084832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3" name="Shape 37"/>
          <p:cNvSpPr/>
          <p:nvPr/>
        </p:nvSpPr>
        <p:spPr>
          <a:xfrm>
            <a:off x="10149840" y="2468880"/>
            <a:ext cx="768096" cy="768096"/>
          </a:xfrm>
          <a:prstGeom prst="ellipse">
            <a:avLst/>
          </a:prstGeom>
          <a:solidFill>
            <a:srgbClr val="0E1633"/>
          </a:solidFill>
          <a:ln/>
        </p:spPr>
      </p:sp>
      <p:sp>
        <p:nvSpPr>
          <p:cNvPr id="44" name="Text 38"/>
          <p:cNvSpPr/>
          <p:nvPr/>
        </p:nvSpPr>
        <p:spPr>
          <a:xfrm>
            <a:off x="10149840" y="2468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3447288"/>
            <a:ext cx="438912" cy="43891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9628632" y="39776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9674352" y="436168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ships apps with Argo Rollouts — canary, analysis, and automatic rollback.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640080" y="5943600"/>
            <a:ext cx="10927080" cy="384048"/>
          </a:xfrm>
          <a:prstGeom prst="rect">
            <a:avLst/>
          </a:prstGeom>
          <a:solidFill>
            <a:srgbClr val="CFE6F0"/>
          </a:solidFill>
          <a:ln/>
        </p:spPr>
      </p:sp>
      <p:sp>
        <p:nvSpPr>
          <p:cNvPr id="49" name="Shape 42"/>
          <p:cNvSpPr/>
          <p:nvPr/>
        </p:nvSpPr>
        <p:spPr>
          <a:xfrm>
            <a:off x="640080" y="5943600"/>
            <a:ext cx="54864" cy="3840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0" name="Text 43"/>
          <p:cNvSpPr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compliant, observable cluster in minutes — every change traceable in Git.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5486400" cy="54864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2011680"/>
            <a:ext cx="5029200" cy="50292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APPROACH WINS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1143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engineering, the Azure-native way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257800" cy="123444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2459736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15184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3682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Self-service speed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28800" y="275234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&amp; apps in minutes, not days — via portal + GitOps.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2148840"/>
            <a:ext cx="5257800" cy="123444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65392" y="2459736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1518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23682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Consistency at scale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315200" y="275234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source of truth; drift is detected and reconciled.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2960" y="3584448"/>
            <a:ext cx="5257800" cy="123444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78992" y="3895344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05079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38039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&amp; governed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828800" y="4187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ID, Key Vault, Azure Policy &amp; Gatekeeper on by default.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309360" y="3584448"/>
            <a:ext cx="5257800" cy="123444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65392" y="3895344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05079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38039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lock-in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15200" y="4187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Open-source-first (CNCF) on managed Azure foundations.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22960" y="5440680"/>
            <a:ext cx="10561320" cy="868680"/>
          </a:xfrm>
          <a:prstGeom prst="roundRect">
            <a:avLst>
              <a:gd name="adj" fmla="val 8421"/>
            </a:avLst>
          </a:prstGeom>
          <a:solidFill>
            <a:srgbClr val="2DD4BF"/>
          </a:solidFill>
          <a:ln/>
        </p:spPr>
      </p:sp>
      <p:sp>
        <p:nvSpPr>
          <p:cNvPr id="28" name="Text 22"/>
          <p:cNvSpPr/>
          <p:nvPr/>
        </p:nvSpPr>
        <p:spPr>
          <a:xfrm>
            <a:off x="1143000" y="5559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43000" y="5852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repo, run Terraform, and bootstrap a control plane — then onboard your first team via Backstage.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Multi-Cluster Platform Engineering on AKS</dc:title>
  <dc:subject>PptxGenJS Presentation</dc:subject>
  <dc:creator>Platform Engineering</dc:creator>
  <cp:lastModifiedBy>Platform Engineering</cp:lastModifiedBy>
  <cp:revision>1</cp:revision>
  <dcterms:created xsi:type="dcterms:W3CDTF">2026-06-28T13:24:56Z</dcterms:created>
  <dcterms:modified xsi:type="dcterms:W3CDTF">2026-06-28T13:24:56Z</dcterms:modified>
</cp:coreProperties>
</file>