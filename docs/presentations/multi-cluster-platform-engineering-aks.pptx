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58200" y="-1645920"/>
            <a:ext cx="5669280" cy="5669280"/>
          </a:xfrm>
          <a:prstGeom prst="ellipse">
            <a:avLst/>
          </a:prstGeom>
          <a:solidFill>
            <a:srgbClr val="065A82">
              <a:alpha val="62000"/>
            </a:srgbClr>
          </a:solidFill>
          <a:ln w="12700">
            <a:solidFill>
              <a:srgbClr val="065A82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09760" y="1417320"/>
            <a:ext cx="4663440" cy="4663440"/>
          </a:xfrm>
          <a:prstGeom prst="ellipse">
            <a:avLst/>
          </a:prstGeom>
          <a:solidFill>
            <a:srgbClr val="1C7293">
              <a:alpha val="50000"/>
            </a:srgbClr>
          </a:solidFill>
          <a:ln w="12700">
            <a:solidFill>
              <a:srgbClr val="1C7293">
                <a:alpha val="5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87000" y="4114800"/>
            <a:ext cx="3108960" cy="3108960"/>
          </a:xfrm>
          <a:prstGeom prst="ellipse">
            <a:avLst/>
          </a:prstGeom>
          <a:solidFill>
            <a:srgbClr val="2DD4BF">
              <a:alpha val="38000"/>
            </a:srgbClr>
          </a:solidFill>
          <a:ln w="12700">
            <a:solidFill>
              <a:srgbClr val="2DD4BF">
                <a:alpha val="5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115568"/>
            <a:ext cx="841248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 KUBERNETES SERVICE  |  PLATFORM ENGINEERING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86384" y="1591056"/>
            <a:ext cx="8869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Multi-Cluster</a:t>
            </a:r>
            <a:endParaRPr lang="en-US" sz="4100" dirty="0"/>
          </a:p>
          <a:p>
            <a:pPr algn="l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Platform Engineering</a:t>
            </a:r>
            <a:endParaRPr lang="en-US" sz="410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790956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D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customer-ready story for app self-service, GitOps automation, AKS fleet management, and external cluster governance.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4608576"/>
            <a:ext cx="1184148" cy="320040"/>
          </a:xfrm>
          <a:prstGeom prst="roundRect">
            <a:avLst>
              <a:gd name="adj" fmla="val 1714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658868"/>
            <a:ext cx="11841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Backstage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2144268" y="4608576"/>
            <a:ext cx="1531620" cy="320040"/>
          </a:xfrm>
          <a:prstGeom prst="roundRect">
            <a:avLst>
              <a:gd name="adj" fmla="val 1714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4268" y="4658868"/>
            <a:ext cx="15316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ArgoCD GitOps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3813048" y="4608576"/>
            <a:ext cx="1184148" cy="320040"/>
          </a:xfrm>
          <a:prstGeom prst="roundRect">
            <a:avLst>
              <a:gd name="adj" fmla="val 1714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13048" y="4658868"/>
            <a:ext cx="11841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AKS Fleet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5134356" y="4608576"/>
            <a:ext cx="1184148" cy="320040"/>
          </a:xfrm>
          <a:prstGeom prst="roundRect">
            <a:avLst>
              <a:gd name="adj" fmla="val 1714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34356" y="4658868"/>
            <a:ext cx="118414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 Arc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455664" y="4608576"/>
            <a:ext cx="2052828" cy="320040"/>
          </a:xfrm>
          <a:prstGeom prst="roundRect">
            <a:avLst>
              <a:gd name="adj" fmla="val 1714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55664" y="4658868"/>
            <a:ext cx="2052828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Platform guardrails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822960" y="5806440"/>
            <a:ext cx="74980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DD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demo deck  |  App delivery + cluster governance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0292" cy="685800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0" y="-1188720"/>
            <a:ext cx="3108960" cy="3108960"/>
          </a:xfrm>
          <a:prstGeom prst="ellipse">
            <a:avLst/>
          </a:prstGeom>
          <a:solidFill>
            <a:srgbClr val="DDF2F7">
              <a:alpha val="18000"/>
            </a:srgbClr>
          </a:solidFill>
          <a:ln w="12700">
            <a:solidFill>
              <a:srgbClr val="DDF2F7">
                <a:alpha val="4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84048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A PLATFORM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667512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multi-cluster challenge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1231575" y="635508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Multi-Cluster Platform Engineering on AKS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371600"/>
            <a:ext cx="681228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scales quickly from one cluster to many environments, teams, and edge locations. Without a platform, every delivery path becomes a custom integration.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658368" y="2057400"/>
            <a:ext cx="6629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" y="2057400"/>
            <a:ext cx="73152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2258568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6206" y="2386950"/>
            <a:ext cx="218724" cy="21872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81328" y="2240280"/>
            <a:ext cx="56235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Delivery friction</a:t>
            </a:r>
            <a:endParaRPr lang="en-US" sz="1320" dirty="0"/>
          </a:p>
        </p:txBody>
      </p:sp>
      <p:sp>
        <p:nvSpPr>
          <p:cNvPr id="15" name="Text 12"/>
          <p:cNvSpPr/>
          <p:nvPr/>
        </p:nvSpPr>
        <p:spPr>
          <a:xfrm>
            <a:off x="1481328" y="2532888"/>
            <a:ext cx="56235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hand-wire manifests, namespaces, secrets, and ownership for every app.</a:t>
            </a:r>
            <a:endParaRPr lang="en-US" sz="930" dirty="0"/>
          </a:p>
        </p:txBody>
      </p:sp>
      <p:sp>
        <p:nvSpPr>
          <p:cNvPr id="16" name="Shape 13"/>
          <p:cNvSpPr/>
          <p:nvPr/>
        </p:nvSpPr>
        <p:spPr>
          <a:xfrm>
            <a:off x="658368" y="2999232"/>
            <a:ext cx="6629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58368" y="2999232"/>
            <a:ext cx="73152" cy="8229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77824" y="3200400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206" y="3328782"/>
            <a:ext cx="218724" cy="21872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481328" y="3182112"/>
            <a:ext cx="56235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AKS fleet drift</a:t>
            </a:r>
            <a:endParaRPr lang="en-US" sz="1320" dirty="0"/>
          </a:p>
        </p:txBody>
      </p:sp>
      <p:sp>
        <p:nvSpPr>
          <p:cNvPr id="21" name="Text 17"/>
          <p:cNvSpPr/>
          <p:nvPr/>
        </p:nvSpPr>
        <p:spPr>
          <a:xfrm>
            <a:off x="1481328" y="3474720"/>
            <a:ext cx="56235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diverge across dev, staging, production, and customer demos.</a:t>
            </a:r>
            <a:endParaRPr lang="en-US" sz="930" dirty="0"/>
          </a:p>
        </p:txBody>
      </p:sp>
      <p:sp>
        <p:nvSpPr>
          <p:cNvPr id="22" name="Shape 18"/>
          <p:cNvSpPr/>
          <p:nvPr/>
        </p:nvSpPr>
        <p:spPr>
          <a:xfrm>
            <a:off x="658368" y="3941064"/>
            <a:ext cx="6629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58368" y="3941064"/>
            <a:ext cx="73152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77824" y="4142232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206" y="4270614"/>
            <a:ext cx="218724" cy="21872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1481328" y="4123944"/>
            <a:ext cx="56235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 clusters</a:t>
            </a:r>
            <a:endParaRPr lang="en-US" sz="1320" dirty="0"/>
          </a:p>
        </p:txBody>
      </p:sp>
      <p:sp>
        <p:nvSpPr>
          <p:cNvPr id="27" name="Text 22"/>
          <p:cNvSpPr/>
          <p:nvPr/>
        </p:nvSpPr>
        <p:spPr>
          <a:xfrm>
            <a:off x="1481328" y="4416552"/>
            <a:ext cx="56235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On-prem, edge, kind, or other-cloud clusters need the same GitOps governance.</a:t>
            </a:r>
            <a:endParaRPr lang="en-US" sz="930" dirty="0"/>
          </a:p>
        </p:txBody>
      </p:sp>
      <p:sp>
        <p:nvSpPr>
          <p:cNvPr id="28" name="Shape 23"/>
          <p:cNvSpPr/>
          <p:nvPr/>
        </p:nvSpPr>
        <p:spPr>
          <a:xfrm>
            <a:off x="658368" y="4882896"/>
            <a:ext cx="6629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58368" y="4882896"/>
            <a:ext cx="73152" cy="8229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77824" y="5084064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6206" y="5212446"/>
            <a:ext cx="218724" cy="21872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481328" y="5065776"/>
            <a:ext cx="56235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 gaps</a:t>
            </a:r>
            <a:endParaRPr lang="en-US" sz="1320" dirty="0"/>
          </a:p>
        </p:txBody>
      </p:sp>
      <p:sp>
        <p:nvSpPr>
          <p:cNvPr id="33" name="Text 27"/>
          <p:cNvSpPr/>
          <p:nvPr/>
        </p:nvSpPr>
        <p:spPr>
          <a:xfrm>
            <a:off x="1481328" y="5358384"/>
            <a:ext cx="56235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policy, observability, and secret handling are inconsistent without defaults.</a:t>
            </a:r>
            <a:endParaRPr lang="en-US" sz="930" dirty="0"/>
          </a:p>
        </p:txBody>
      </p:sp>
      <p:sp>
        <p:nvSpPr>
          <p:cNvPr id="34" name="Shape 28"/>
          <p:cNvSpPr/>
          <p:nvPr/>
        </p:nvSpPr>
        <p:spPr>
          <a:xfrm>
            <a:off x="7635240" y="1371600"/>
            <a:ext cx="3886200" cy="4983480"/>
          </a:xfrm>
          <a:prstGeom prst="rect">
            <a:avLst/>
          </a:prstGeom>
          <a:solidFill>
            <a:srgbClr val="0B1026"/>
          </a:solidFill>
          <a:ln w="12700">
            <a:solidFill>
              <a:srgbClr val="0B1026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8000"/>
              </a:srgbClr>
            </a:outerShdw>
          </a:effectLst>
        </p:spPr>
      </p:sp>
      <p:sp>
        <p:nvSpPr>
          <p:cNvPr id="35" name="Text 29"/>
          <p:cNvSpPr/>
          <p:nvPr/>
        </p:nvSpPr>
        <p:spPr>
          <a:xfrm>
            <a:off x="7936992" y="1700784"/>
            <a:ext cx="324612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platform turns Kubernetes into a product</a:t>
            </a:r>
            <a:endParaRPr lang="en-US" sz="1700" dirty="0"/>
          </a:p>
        </p:txBody>
      </p:sp>
      <p:sp>
        <p:nvSpPr>
          <p:cNvPr id="36" name="Text 30"/>
          <p:cNvSpPr/>
          <p:nvPr/>
        </p:nvSpPr>
        <p:spPr>
          <a:xfrm>
            <a:off x="7936992" y="2487168"/>
            <a:ext cx="32461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Portal</a:t>
            </a:r>
            <a:endParaRPr lang="en-US" sz="2100" dirty="0"/>
          </a:p>
        </p:txBody>
      </p:sp>
      <p:sp>
        <p:nvSpPr>
          <p:cNvPr id="37" name="Text 31"/>
          <p:cNvSpPr/>
          <p:nvPr/>
        </p:nvSpPr>
        <p:spPr>
          <a:xfrm>
            <a:off x="7973568" y="2825496"/>
            <a:ext cx="31546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DD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front door for app teams</a:t>
            </a:r>
            <a:endParaRPr lang="en-US" sz="1070" dirty="0"/>
          </a:p>
        </p:txBody>
      </p:sp>
      <p:sp>
        <p:nvSpPr>
          <p:cNvPr id="38" name="Text 32"/>
          <p:cNvSpPr/>
          <p:nvPr/>
        </p:nvSpPr>
        <p:spPr>
          <a:xfrm>
            <a:off x="7936992" y="3273552"/>
            <a:ext cx="32461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GitOps</a:t>
            </a:r>
            <a:endParaRPr lang="en-US" sz="2100" dirty="0"/>
          </a:p>
        </p:txBody>
      </p:sp>
      <p:sp>
        <p:nvSpPr>
          <p:cNvPr id="39" name="Text 33"/>
          <p:cNvSpPr/>
          <p:nvPr/>
        </p:nvSpPr>
        <p:spPr>
          <a:xfrm>
            <a:off x="7973568" y="3611880"/>
            <a:ext cx="31546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DD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reviewable desired state</a:t>
            </a:r>
            <a:endParaRPr lang="en-US" sz="1070" dirty="0"/>
          </a:p>
        </p:txBody>
      </p:sp>
      <p:sp>
        <p:nvSpPr>
          <p:cNvPr id="40" name="Text 34"/>
          <p:cNvSpPr/>
          <p:nvPr/>
        </p:nvSpPr>
        <p:spPr>
          <a:xfrm>
            <a:off x="7936992" y="4059936"/>
            <a:ext cx="32461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Fleet + Arc</a:t>
            </a:r>
            <a:endParaRPr lang="en-US" sz="2100" dirty="0"/>
          </a:p>
        </p:txBody>
      </p:sp>
      <p:sp>
        <p:nvSpPr>
          <p:cNvPr id="41" name="Text 35"/>
          <p:cNvSpPr/>
          <p:nvPr/>
        </p:nvSpPr>
        <p:spPr>
          <a:xfrm>
            <a:off x="7973568" y="4398264"/>
            <a:ext cx="31546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DD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control plane for each cluster type</a:t>
            </a:r>
            <a:endParaRPr lang="en-US" sz="1070" dirty="0"/>
          </a:p>
        </p:txBody>
      </p:sp>
      <p:sp>
        <p:nvSpPr>
          <p:cNvPr id="42" name="Text 36"/>
          <p:cNvSpPr/>
          <p:nvPr/>
        </p:nvSpPr>
        <p:spPr>
          <a:xfrm>
            <a:off x="7936992" y="4846320"/>
            <a:ext cx="32461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Guardrails</a:t>
            </a:r>
            <a:endParaRPr lang="en-US" sz="2100" dirty="0"/>
          </a:p>
        </p:txBody>
      </p:sp>
      <p:sp>
        <p:nvSpPr>
          <p:cNvPr id="43" name="Text 37"/>
          <p:cNvSpPr/>
          <p:nvPr/>
        </p:nvSpPr>
        <p:spPr>
          <a:xfrm>
            <a:off x="7973568" y="5184648"/>
            <a:ext cx="31546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DD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defaults everywhere</a:t>
            </a:r>
            <a:endParaRPr lang="en-US" sz="107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0292" cy="685800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0" y="-1188720"/>
            <a:ext cx="3108960" cy="3108960"/>
          </a:xfrm>
          <a:prstGeom prst="ellipse">
            <a:avLst/>
          </a:prstGeom>
          <a:solidFill>
            <a:srgbClr val="DDF2F7">
              <a:alpha val="18000"/>
            </a:srgbClr>
          </a:solidFill>
          <a:ln w="12700">
            <a:solidFill>
              <a:srgbClr val="DDF2F7">
                <a:alpha val="4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84048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 ARCHITECTURE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667512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GitOps across AKS and external clusters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1231575" y="635508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Multi-Cluster Platform Engineering on AKS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371600"/>
            <a:ext cx="1078992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Backstage improves the developer experience, ArgoCD reconciles desired state, Fleet manages AKS membership, and Azure Arc extends governance to non-AKS clusters.</a:t>
            </a:r>
            <a:endParaRPr lang="en-US" sz="1280" dirty="0"/>
          </a:p>
        </p:txBody>
      </p:sp>
      <p:sp>
        <p:nvSpPr>
          <p:cNvPr id="10" name="Shape 8"/>
          <p:cNvSpPr/>
          <p:nvPr/>
        </p:nvSpPr>
        <p:spPr>
          <a:xfrm>
            <a:off x="685800" y="2130552"/>
            <a:ext cx="20574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3970">
            <a:solidFill>
              <a:srgbClr val="2DD4BF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32104" y="2276856"/>
            <a:ext cx="420624" cy="420624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672" y="2390424"/>
            <a:ext cx="193487" cy="193487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53312" y="2249424"/>
            <a:ext cx="127101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</a:t>
            </a:r>
            <a:endParaRPr lang="en-US" sz="1080" dirty="0"/>
          </a:p>
        </p:txBody>
      </p:sp>
      <p:sp>
        <p:nvSpPr>
          <p:cNvPr id="14" name="Text 11"/>
          <p:cNvSpPr/>
          <p:nvPr/>
        </p:nvSpPr>
        <p:spPr>
          <a:xfrm>
            <a:off x="1353312" y="2514600"/>
            <a:ext cx="1271016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app deployment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685800" y="3246120"/>
            <a:ext cx="20574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3970">
            <a:solidFill>
              <a:srgbClr val="0B1026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2104" y="3392424"/>
            <a:ext cx="420624" cy="420624"/>
          </a:xfrm>
          <a:prstGeom prst="ellipse">
            <a:avLst/>
          </a:prstGeom>
          <a:solidFill>
            <a:srgbClr val="0B1026"/>
          </a:solidFill>
          <a:ln w="12700">
            <a:solidFill>
              <a:srgbClr val="0B102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672" y="3505992"/>
            <a:ext cx="193487" cy="19348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353312" y="3364992"/>
            <a:ext cx="127101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</a:t>
            </a:r>
            <a:endParaRPr lang="en-US" sz="1080" dirty="0"/>
          </a:p>
        </p:txBody>
      </p:sp>
      <p:sp>
        <p:nvSpPr>
          <p:cNvPr id="19" name="Text 15"/>
          <p:cNvSpPr/>
          <p:nvPr/>
        </p:nvSpPr>
        <p:spPr>
          <a:xfrm>
            <a:off x="1353312" y="3630168"/>
            <a:ext cx="1271016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for apps, clusters, addons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3246120" y="2130552"/>
            <a:ext cx="2331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397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392424" y="2276856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992" y="2390424"/>
            <a:ext cx="193487" cy="19348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913632" y="2249424"/>
            <a:ext cx="15453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Backstage</a:t>
            </a:r>
            <a:endParaRPr lang="en-US" sz="1080" dirty="0"/>
          </a:p>
        </p:txBody>
      </p:sp>
      <p:sp>
        <p:nvSpPr>
          <p:cNvPr id="24" name="Text 19"/>
          <p:cNvSpPr/>
          <p:nvPr/>
        </p:nvSpPr>
        <p:spPr>
          <a:xfrm>
            <a:off x="3913632" y="2514600"/>
            <a:ext cx="1545336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+ app Software Template</a:t>
            </a:r>
            <a:endParaRPr lang="en-US" sz="880" dirty="0"/>
          </a:p>
        </p:txBody>
      </p:sp>
      <p:sp>
        <p:nvSpPr>
          <p:cNvPr id="25" name="Shape 20"/>
          <p:cNvSpPr/>
          <p:nvPr/>
        </p:nvSpPr>
        <p:spPr>
          <a:xfrm>
            <a:off x="3246120" y="3246120"/>
            <a:ext cx="2331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3970">
            <a:solidFill>
              <a:srgbClr val="7B42B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3392424" y="3392424"/>
            <a:ext cx="420624" cy="420624"/>
          </a:xfrm>
          <a:prstGeom prst="ellipse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992" y="3505992"/>
            <a:ext cx="193487" cy="193487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3913632" y="3364992"/>
            <a:ext cx="15453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</a:t>
            </a:r>
            <a:endParaRPr lang="en-US" sz="1080" dirty="0"/>
          </a:p>
        </p:txBody>
      </p:sp>
      <p:sp>
        <p:nvSpPr>
          <p:cNvPr id="29" name="Text 23"/>
          <p:cNvSpPr/>
          <p:nvPr/>
        </p:nvSpPr>
        <p:spPr>
          <a:xfrm>
            <a:off x="3913632" y="3630168"/>
            <a:ext cx="1545336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Bootstraps control plane</a:t>
            </a:r>
            <a:endParaRPr lang="en-US" sz="880" dirty="0"/>
          </a:p>
        </p:txBody>
      </p:sp>
      <p:sp>
        <p:nvSpPr>
          <p:cNvPr id="30" name="Shape 24"/>
          <p:cNvSpPr/>
          <p:nvPr/>
        </p:nvSpPr>
        <p:spPr>
          <a:xfrm>
            <a:off x="6172200" y="1874520"/>
            <a:ext cx="2743200" cy="2487168"/>
          </a:xfrm>
          <a:prstGeom prst="rect">
            <a:avLst/>
          </a:prstGeom>
          <a:solidFill>
            <a:srgbClr val="0B1026"/>
          </a:solidFill>
          <a:ln w="12700">
            <a:solidFill>
              <a:srgbClr val="0B1026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8000"/>
              </a:srgbClr>
            </a:outerShdw>
          </a:effectLst>
        </p:spPr>
      </p:sp>
      <p:sp>
        <p:nvSpPr>
          <p:cNvPr id="31" name="Text 25"/>
          <p:cNvSpPr/>
          <p:nvPr/>
        </p:nvSpPr>
        <p:spPr>
          <a:xfrm>
            <a:off x="6446520" y="2103120"/>
            <a:ext cx="2240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CONTROL-PLANE AKS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6446520" y="2514600"/>
            <a:ext cx="2194560" cy="658368"/>
          </a:xfrm>
          <a:prstGeom prst="roundRect">
            <a:avLst>
              <a:gd name="adj" fmla="val 11111"/>
            </a:avLst>
          </a:prstGeom>
          <a:solidFill>
            <a:srgbClr val="12315C"/>
          </a:solidFill>
          <a:ln w="1397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6592824" y="2660904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6392" y="2774472"/>
            <a:ext cx="193487" cy="19348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114032" y="2633472"/>
            <a:ext cx="14081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ArgoCD</a:t>
            </a:r>
            <a:endParaRPr lang="en-US" sz="1080" dirty="0"/>
          </a:p>
        </p:txBody>
      </p:sp>
      <p:sp>
        <p:nvSpPr>
          <p:cNvPr id="36" name="Text 29"/>
          <p:cNvSpPr/>
          <p:nvPr/>
        </p:nvSpPr>
        <p:spPr>
          <a:xfrm>
            <a:off x="7114032" y="2898648"/>
            <a:ext cx="140817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D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reconciliation loop</a:t>
            </a:r>
            <a:endParaRPr lang="en-US" sz="880" dirty="0"/>
          </a:p>
        </p:txBody>
      </p:sp>
      <p:sp>
        <p:nvSpPr>
          <p:cNvPr id="37" name="Shape 30"/>
          <p:cNvSpPr/>
          <p:nvPr/>
        </p:nvSpPr>
        <p:spPr>
          <a:xfrm>
            <a:off x="6446520" y="3346704"/>
            <a:ext cx="2194560" cy="658368"/>
          </a:xfrm>
          <a:prstGeom prst="roundRect">
            <a:avLst>
              <a:gd name="adj" fmla="val 11111"/>
            </a:avLst>
          </a:prstGeom>
          <a:solidFill>
            <a:srgbClr val="12315C"/>
          </a:solidFill>
          <a:ln w="1397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6592824" y="3493008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6392" y="3606576"/>
            <a:ext cx="193487" cy="193487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114032" y="3465576"/>
            <a:ext cx="14081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CAPZ + ASO</a:t>
            </a:r>
            <a:endParaRPr lang="en-US" sz="1080" dirty="0"/>
          </a:p>
        </p:txBody>
      </p:sp>
      <p:sp>
        <p:nvSpPr>
          <p:cNvPr id="41" name="Text 33"/>
          <p:cNvSpPr/>
          <p:nvPr/>
        </p:nvSpPr>
        <p:spPr>
          <a:xfrm>
            <a:off x="7114032" y="3730752"/>
            <a:ext cx="140817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D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 infrastructure APIs</a:t>
            </a:r>
            <a:endParaRPr lang="en-US" sz="880" dirty="0"/>
          </a:p>
        </p:txBody>
      </p:sp>
      <p:sp>
        <p:nvSpPr>
          <p:cNvPr id="42" name="Shape 34"/>
          <p:cNvSpPr/>
          <p:nvPr/>
        </p:nvSpPr>
        <p:spPr>
          <a:xfrm>
            <a:off x="9464040" y="1691640"/>
            <a:ext cx="21488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16A34A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43" name="Shape 35"/>
          <p:cNvSpPr/>
          <p:nvPr/>
        </p:nvSpPr>
        <p:spPr>
          <a:xfrm>
            <a:off x="9610344" y="1837944"/>
            <a:ext cx="420624" cy="42062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3912" y="1951512"/>
            <a:ext cx="193487" cy="193487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10131552" y="1810512"/>
            <a:ext cx="13624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AKS clusters</a:t>
            </a:r>
            <a:endParaRPr lang="en-US" sz="1080" dirty="0"/>
          </a:p>
        </p:txBody>
      </p:sp>
      <p:sp>
        <p:nvSpPr>
          <p:cNvPr id="46" name="Text 37"/>
          <p:cNvSpPr/>
          <p:nvPr/>
        </p:nvSpPr>
        <p:spPr>
          <a:xfrm>
            <a:off x="10131552" y="2075688"/>
            <a:ext cx="1362456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by Fleet Manager</a:t>
            </a:r>
            <a:endParaRPr lang="en-US" sz="880" dirty="0"/>
          </a:p>
        </p:txBody>
      </p:sp>
      <p:sp>
        <p:nvSpPr>
          <p:cNvPr id="47" name="Shape 38"/>
          <p:cNvSpPr/>
          <p:nvPr/>
        </p:nvSpPr>
        <p:spPr>
          <a:xfrm>
            <a:off x="9464040" y="2834640"/>
            <a:ext cx="21488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48" name="Shape 39"/>
          <p:cNvSpPr/>
          <p:nvPr/>
        </p:nvSpPr>
        <p:spPr>
          <a:xfrm>
            <a:off x="9610344" y="2980944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4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23912" y="3094512"/>
            <a:ext cx="193487" cy="193487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10131552" y="2953512"/>
            <a:ext cx="13624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Fleet Manager</a:t>
            </a:r>
            <a:endParaRPr lang="en-US" sz="1080" dirty="0"/>
          </a:p>
        </p:txBody>
      </p:sp>
      <p:sp>
        <p:nvSpPr>
          <p:cNvPr id="51" name="Text 41"/>
          <p:cNvSpPr/>
          <p:nvPr/>
        </p:nvSpPr>
        <p:spPr>
          <a:xfrm>
            <a:off x="10131552" y="3218688"/>
            <a:ext cx="1362456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+ update groups</a:t>
            </a:r>
            <a:endParaRPr lang="en-US" sz="880" dirty="0"/>
          </a:p>
        </p:txBody>
      </p:sp>
      <p:sp>
        <p:nvSpPr>
          <p:cNvPr id="52" name="Shape 42"/>
          <p:cNvSpPr/>
          <p:nvPr/>
        </p:nvSpPr>
        <p:spPr>
          <a:xfrm>
            <a:off x="9464040" y="3977640"/>
            <a:ext cx="21488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53" name="Shape 43"/>
          <p:cNvSpPr/>
          <p:nvPr/>
        </p:nvSpPr>
        <p:spPr>
          <a:xfrm>
            <a:off x="9610344" y="4123944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5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23912" y="4237512"/>
            <a:ext cx="193487" cy="193487"/>
          </a:xfrm>
          <a:prstGeom prst="rect">
            <a:avLst/>
          </a:prstGeom>
        </p:spPr>
      </p:pic>
      <p:sp>
        <p:nvSpPr>
          <p:cNvPr id="55" name="Text 44"/>
          <p:cNvSpPr/>
          <p:nvPr/>
        </p:nvSpPr>
        <p:spPr>
          <a:xfrm>
            <a:off x="10131552" y="4096512"/>
            <a:ext cx="13624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 clusters</a:t>
            </a:r>
            <a:endParaRPr lang="en-US" sz="1080" dirty="0"/>
          </a:p>
        </p:txBody>
      </p:sp>
      <p:sp>
        <p:nvSpPr>
          <p:cNvPr id="56" name="Text 45"/>
          <p:cNvSpPr/>
          <p:nvPr/>
        </p:nvSpPr>
        <p:spPr>
          <a:xfrm>
            <a:off x="10131552" y="4361688"/>
            <a:ext cx="1362456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by Azure Arc</a:t>
            </a:r>
            <a:endParaRPr lang="en-US" sz="880" dirty="0"/>
          </a:p>
        </p:txBody>
      </p:sp>
      <p:sp>
        <p:nvSpPr>
          <p:cNvPr id="57" name="Shape 46"/>
          <p:cNvSpPr/>
          <p:nvPr/>
        </p:nvSpPr>
        <p:spPr>
          <a:xfrm>
            <a:off x="2743200" y="2551176"/>
            <a:ext cx="5029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headEnd type="none"/>
            <a:tailEnd type="triangle"/>
          </a:ln>
        </p:spPr>
      </p:sp>
      <p:sp>
        <p:nvSpPr>
          <p:cNvPr id="58" name="Shape 47"/>
          <p:cNvSpPr/>
          <p:nvPr/>
        </p:nvSpPr>
        <p:spPr>
          <a:xfrm>
            <a:off x="2743200" y="3666744"/>
            <a:ext cx="5029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headEnd type="none"/>
            <a:tailEnd type="triangle"/>
          </a:ln>
        </p:spPr>
      </p:sp>
      <p:sp>
        <p:nvSpPr>
          <p:cNvPr id="59" name="Shape 48"/>
          <p:cNvSpPr/>
          <p:nvPr/>
        </p:nvSpPr>
        <p:spPr>
          <a:xfrm>
            <a:off x="5577840" y="3611880"/>
            <a:ext cx="594360" cy="54864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headEnd type="none"/>
            <a:tailEnd type="triangle"/>
          </a:ln>
        </p:spPr>
      </p:sp>
      <p:sp>
        <p:nvSpPr>
          <p:cNvPr id="60" name="Shape 49"/>
          <p:cNvSpPr/>
          <p:nvPr/>
        </p:nvSpPr>
        <p:spPr>
          <a:xfrm>
            <a:off x="8915400" y="2112264"/>
            <a:ext cx="548640" cy="722376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  <a:headEnd type="none"/>
            <a:tailEnd type="triangle"/>
          </a:ln>
        </p:spPr>
      </p:sp>
      <p:sp>
        <p:nvSpPr>
          <p:cNvPr id="61" name="Shape 50"/>
          <p:cNvSpPr/>
          <p:nvPr/>
        </p:nvSpPr>
        <p:spPr>
          <a:xfrm>
            <a:off x="8915400" y="3200400"/>
            <a:ext cx="548640" cy="365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  <a:headEnd type="none"/>
            <a:tailEnd type="triangle"/>
          </a:ln>
        </p:spPr>
      </p:sp>
      <p:sp>
        <p:nvSpPr>
          <p:cNvPr id="62" name="Shape 51"/>
          <p:cNvSpPr/>
          <p:nvPr/>
        </p:nvSpPr>
        <p:spPr>
          <a:xfrm>
            <a:off x="8915400" y="3703320"/>
            <a:ext cx="548640" cy="676656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headEnd type="none"/>
            <a:tailEnd type="triangle"/>
          </a:ln>
        </p:spPr>
      </p:sp>
      <p:sp>
        <p:nvSpPr>
          <p:cNvPr id="63" name="Shape 52"/>
          <p:cNvSpPr/>
          <p:nvPr/>
        </p:nvSpPr>
        <p:spPr>
          <a:xfrm>
            <a:off x="4160520" y="5358384"/>
            <a:ext cx="1965960" cy="320040"/>
          </a:xfrm>
          <a:prstGeom prst="roundRect">
            <a:avLst>
              <a:gd name="adj" fmla="val 17143"/>
            </a:avLst>
          </a:prstGeom>
          <a:solidFill>
            <a:srgbClr val="0B1026"/>
          </a:solidFill>
          <a:ln w="12700">
            <a:solidFill>
              <a:srgbClr val="0B1026"/>
            </a:solidFill>
            <a:prstDash val="solid"/>
          </a:ln>
        </p:spPr>
      </p:sp>
      <p:sp>
        <p:nvSpPr>
          <p:cNvPr id="64" name="Text 53"/>
          <p:cNvSpPr/>
          <p:nvPr/>
        </p:nvSpPr>
        <p:spPr>
          <a:xfrm>
            <a:off x="4160520" y="5408676"/>
            <a:ext cx="19659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= source of truth</a:t>
            </a:r>
            <a:endParaRPr lang="en-US" sz="860" dirty="0"/>
          </a:p>
        </p:txBody>
      </p:sp>
      <p:sp>
        <p:nvSpPr>
          <p:cNvPr id="65" name="Shape 54"/>
          <p:cNvSpPr/>
          <p:nvPr/>
        </p:nvSpPr>
        <p:spPr>
          <a:xfrm>
            <a:off x="6400800" y="5358384"/>
            <a:ext cx="2103120" cy="320040"/>
          </a:xfrm>
          <a:prstGeom prst="roundRect">
            <a:avLst>
              <a:gd name="adj" fmla="val 1714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6" name="Text 55"/>
          <p:cNvSpPr/>
          <p:nvPr/>
        </p:nvSpPr>
        <p:spPr>
          <a:xfrm>
            <a:off x="6400800" y="5408676"/>
            <a:ext cx="21031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ArgoCD = control loop</a:t>
            </a:r>
            <a:endParaRPr lang="en-US" sz="860" dirty="0"/>
          </a:p>
        </p:txBody>
      </p:sp>
      <p:sp>
        <p:nvSpPr>
          <p:cNvPr id="67" name="Shape 56"/>
          <p:cNvSpPr/>
          <p:nvPr/>
        </p:nvSpPr>
        <p:spPr>
          <a:xfrm>
            <a:off x="8796528" y="5358384"/>
            <a:ext cx="2468880" cy="320040"/>
          </a:xfrm>
          <a:prstGeom prst="roundRect">
            <a:avLst>
              <a:gd name="adj" fmla="val 17143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8" name="Text 57"/>
          <p:cNvSpPr/>
          <p:nvPr/>
        </p:nvSpPr>
        <p:spPr>
          <a:xfrm>
            <a:off x="8796528" y="5408676"/>
            <a:ext cx="24688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Fleet + Arc = cluster scope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0292" cy="685800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0" y="-1188720"/>
            <a:ext cx="3108960" cy="3108960"/>
          </a:xfrm>
          <a:prstGeom prst="ellipse">
            <a:avLst/>
          </a:prstGeom>
          <a:solidFill>
            <a:srgbClr val="DDF2F7">
              <a:alpha val="18000"/>
            </a:srgbClr>
          </a:solidFill>
          <a:ln w="12700">
            <a:solidFill>
              <a:srgbClr val="DDF2F7">
                <a:alpha val="4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84048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PLATFORM CAPABILITIES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667512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Nine layers wired together by GitOps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1231575" y="635508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Multi-Cluster Platform Engineering on AKS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371600"/>
            <a:ext cx="10881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deck now distinguishes app delivery, AKS fleet operations, and external cluster governance while keeping the original platform capability model.</a:t>
            </a:r>
            <a:endParaRPr lang="en-US" sz="1270" dirty="0"/>
          </a:p>
        </p:txBody>
      </p:sp>
      <p:sp>
        <p:nvSpPr>
          <p:cNvPr id="10" name="Shape 8"/>
          <p:cNvSpPr/>
          <p:nvPr/>
        </p:nvSpPr>
        <p:spPr>
          <a:xfrm>
            <a:off x="658368" y="1965960"/>
            <a:ext cx="35661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" y="1965960"/>
            <a:ext cx="73152" cy="11704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2167128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6206" y="2295510"/>
            <a:ext cx="218724" cy="21872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81328" y="2148840"/>
            <a:ext cx="25603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 portal</a:t>
            </a:r>
            <a:endParaRPr lang="en-US" sz="1320" dirty="0"/>
          </a:p>
        </p:txBody>
      </p:sp>
      <p:sp>
        <p:nvSpPr>
          <p:cNvPr id="15" name="Text 12"/>
          <p:cNvSpPr/>
          <p:nvPr/>
        </p:nvSpPr>
        <p:spPr>
          <a:xfrm>
            <a:off x="914400" y="2788920"/>
            <a:ext cx="309067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Backstage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4425696" y="1965960"/>
            <a:ext cx="35661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425696" y="1965960"/>
            <a:ext cx="73152" cy="1170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45152" y="2167128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534" y="2295510"/>
            <a:ext cx="218724" cy="21872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248656" y="2148840"/>
            <a:ext cx="25603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GitOps</a:t>
            </a:r>
            <a:endParaRPr lang="en-US" sz="1320" dirty="0"/>
          </a:p>
        </p:txBody>
      </p:sp>
      <p:sp>
        <p:nvSpPr>
          <p:cNvPr id="21" name="Text 17"/>
          <p:cNvSpPr/>
          <p:nvPr/>
        </p:nvSpPr>
        <p:spPr>
          <a:xfrm>
            <a:off x="4681728" y="2788920"/>
            <a:ext cx="309067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80" dirty="0"/>
          </a:p>
        </p:txBody>
      </p:sp>
      <p:sp>
        <p:nvSpPr>
          <p:cNvPr id="22" name="Shape 18"/>
          <p:cNvSpPr/>
          <p:nvPr/>
        </p:nvSpPr>
        <p:spPr>
          <a:xfrm>
            <a:off x="8193024" y="1965960"/>
            <a:ext cx="35661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193024" y="1965960"/>
            <a:ext cx="73152" cy="117043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412480" y="2167128"/>
            <a:ext cx="475488" cy="47548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862" y="2295510"/>
            <a:ext cx="218724" cy="21872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9015984" y="2148840"/>
            <a:ext cx="25603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Progressive delivery</a:t>
            </a:r>
            <a:endParaRPr lang="en-US" sz="1320" dirty="0"/>
          </a:p>
        </p:txBody>
      </p:sp>
      <p:sp>
        <p:nvSpPr>
          <p:cNvPr id="27" name="Text 22"/>
          <p:cNvSpPr/>
          <p:nvPr/>
        </p:nvSpPr>
        <p:spPr>
          <a:xfrm>
            <a:off x="8449056" y="2788920"/>
            <a:ext cx="309067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 Rollouts</a:t>
            </a:r>
            <a:endParaRPr lang="en-US" sz="1080" dirty="0"/>
          </a:p>
        </p:txBody>
      </p:sp>
      <p:sp>
        <p:nvSpPr>
          <p:cNvPr id="28" name="Shape 23"/>
          <p:cNvSpPr/>
          <p:nvPr/>
        </p:nvSpPr>
        <p:spPr>
          <a:xfrm>
            <a:off x="658368" y="3319272"/>
            <a:ext cx="35661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58368" y="3319272"/>
            <a:ext cx="73152" cy="117043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77824" y="3520440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6206" y="3648822"/>
            <a:ext cx="218724" cy="21872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481328" y="3502152"/>
            <a:ext cx="25603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AKS multi-cluster</a:t>
            </a:r>
            <a:endParaRPr lang="en-US" sz="1320" dirty="0"/>
          </a:p>
        </p:txBody>
      </p:sp>
      <p:sp>
        <p:nvSpPr>
          <p:cNvPr id="33" name="Text 27"/>
          <p:cNvSpPr/>
          <p:nvPr/>
        </p:nvSpPr>
        <p:spPr>
          <a:xfrm>
            <a:off x="914400" y="4142232"/>
            <a:ext cx="309067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Kubernetes Fleet</a:t>
            </a:r>
            <a:endParaRPr lang="en-US" sz="1080" dirty="0"/>
          </a:p>
        </p:txBody>
      </p:sp>
      <p:sp>
        <p:nvSpPr>
          <p:cNvPr id="34" name="Shape 28"/>
          <p:cNvSpPr/>
          <p:nvPr/>
        </p:nvSpPr>
        <p:spPr>
          <a:xfrm>
            <a:off x="4425696" y="3319272"/>
            <a:ext cx="35661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4425696" y="3319272"/>
            <a:ext cx="73152" cy="1170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645152" y="3520440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3534" y="3648822"/>
            <a:ext cx="218724" cy="218724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5248656" y="3502152"/>
            <a:ext cx="25603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 clusters</a:t>
            </a:r>
            <a:endParaRPr lang="en-US" sz="1320" dirty="0"/>
          </a:p>
        </p:txBody>
      </p:sp>
      <p:sp>
        <p:nvSpPr>
          <p:cNvPr id="39" name="Text 32"/>
          <p:cNvSpPr/>
          <p:nvPr/>
        </p:nvSpPr>
        <p:spPr>
          <a:xfrm>
            <a:off x="4681728" y="4142232"/>
            <a:ext cx="309067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Arc-enabled Kubernetes</a:t>
            </a:r>
            <a:endParaRPr lang="en-US" sz="1080" dirty="0"/>
          </a:p>
        </p:txBody>
      </p:sp>
      <p:sp>
        <p:nvSpPr>
          <p:cNvPr id="40" name="Shape 33"/>
          <p:cNvSpPr/>
          <p:nvPr/>
        </p:nvSpPr>
        <p:spPr>
          <a:xfrm>
            <a:off x="8193024" y="3319272"/>
            <a:ext cx="35661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41" name="Shape 34"/>
          <p:cNvSpPr/>
          <p:nvPr/>
        </p:nvSpPr>
        <p:spPr>
          <a:xfrm>
            <a:off x="8193024" y="3319272"/>
            <a:ext cx="73152" cy="1170432"/>
          </a:xfrm>
          <a:prstGeom prst="rect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8412480" y="3520440"/>
            <a:ext cx="475488" cy="475488"/>
          </a:xfrm>
          <a:prstGeom prst="ellipse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0862" y="3648822"/>
            <a:ext cx="218724" cy="218724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9015984" y="3502152"/>
            <a:ext cx="25603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Infrastructure as Service</a:t>
            </a:r>
            <a:endParaRPr lang="en-US" sz="1320" dirty="0"/>
          </a:p>
        </p:txBody>
      </p:sp>
      <p:sp>
        <p:nvSpPr>
          <p:cNvPr id="45" name="Text 37"/>
          <p:cNvSpPr/>
          <p:nvPr/>
        </p:nvSpPr>
        <p:spPr>
          <a:xfrm>
            <a:off x="8449056" y="4142232"/>
            <a:ext cx="309067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CAPZ / Crossplane</a:t>
            </a:r>
            <a:endParaRPr lang="en-US" sz="1080" dirty="0"/>
          </a:p>
        </p:txBody>
      </p:sp>
      <p:sp>
        <p:nvSpPr>
          <p:cNvPr id="46" name="Shape 38"/>
          <p:cNvSpPr/>
          <p:nvPr/>
        </p:nvSpPr>
        <p:spPr>
          <a:xfrm>
            <a:off x="658368" y="4672584"/>
            <a:ext cx="35661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658368" y="4672584"/>
            <a:ext cx="73152" cy="11704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8" name="Shape 40"/>
          <p:cNvSpPr/>
          <p:nvPr/>
        </p:nvSpPr>
        <p:spPr>
          <a:xfrm>
            <a:off x="877824" y="4873752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6206" y="5002134"/>
            <a:ext cx="218724" cy="218724"/>
          </a:xfrm>
          <a:prstGeom prst="rect">
            <a:avLst/>
          </a:prstGeom>
        </p:spPr>
      </p:pic>
      <p:sp>
        <p:nvSpPr>
          <p:cNvPr id="50" name="Text 41"/>
          <p:cNvSpPr/>
          <p:nvPr/>
        </p:nvSpPr>
        <p:spPr>
          <a:xfrm>
            <a:off x="1481328" y="4855464"/>
            <a:ext cx="25603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Identity</a:t>
            </a:r>
            <a:endParaRPr lang="en-US" sz="1320" dirty="0"/>
          </a:p>
        </p:txBody>
      </p:sp>
      <p:sp>
        <p:nvSpPr>
          <p:cNvPr id="51" name="Text 42"/>
          <p:cNvSpPr/>
          <p:nvPr/>
        </p:nvSpPr>
        <p:spPr>
          <a:xfrm>
            <a:off x="914400" y="5495544"/>
            <a:ext cx="309067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Entra ID</a:t>
            </a:r>
            <a:endParaRPr lang="en-US" sz="1080" dirty="0"/>
          </a:p>
        </p:txBody>
      </p:sp>
      <p:sp>
        <p:nvSpPr>
          <p:cNvPr id="52" name="Shape 43"/>
          <p:cNvSpPr/>
          <p:nvPr/>
        </p:nvSpPr>
        <p:spPr>
          <a:xfrm>
            <a:off x="4425696" y="4672584"/>
            <a:ext cx="35661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53" name="Shape 44"/>
          <p:cNvSpPr/>
          <p:nvPr/>
        </p:nvSpPr>
        <p:spPr>
          <a:xfrm>
            <a:off x="4425696" y="4672584"/>
            <a:ext cx="73152" cy="1170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4" name="Shape 45"/>
          <p:cNvSpPr/>
          <p:nvPr/>
        </p:nvSpPr>
        <p:spPr>
          <a:xfrm>
            <a:off x="4645152" y="4873752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73534" y="5002134"/>
            <a:ext cx="218724" cy="218724"/>
          </a:xfrm>
          <a:prstGeom prst="rect">
            <a:avLst/>
          </a:prstGeom>
        </p:spPr>
      </p:pic>
      <p:sp>
        <p:nvSpPr>
          <p:cNvPr id="56" name="Text 46"/>
          <p:cNvSpPr/>
          <p:nvPr/>
        </p:nvSpPr>
        <p:spPr>
          <a:xfrm>
            <a:off x="5248656" y="4855464"/>
            <a:ext cx="25603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Secrets</a:t>
            </a:r>
            <a:endParaRPr lang="en-US" sz="1320" dirty="0"/>
          </a:p>
        </p:txBody>
      </p:sp>
      <p:sp>
        <p:nvSpPr>
          <p:cNvPr id="57" name="Text 47"/>
          <p:cNvSpPr/>
          <p:nvPr/>
        </p:nvSpPr>
        <p:spPr>
          <a:xfrm>
            <a:off x="4681728" y="5495544"/>
            <a:ext cx="309067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Vault + CSI</a:t>
            </a:r>
            <a:endParaRPr lang="en-US" sz="1080" dirty="0"/>
          </a:p>
        </p:txBody>
      </p:sp>
      <p:sp>
        <p:nvSpPr>
          <p:cNvPr id="58" name="Shape 48"/>
          <p:cNvSpPr/>
          <p:nvPr/>
        </p:nvSpPr>
        <p:spPr>
          <a:xfrm>
            <a:off x="8193024" y="4672584"/>
            <a:ext cx="35661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59" name="Shape 49"/>
          <p:cNvSpPr/>
          <p:nvPr/>
        </p:nvSpPr>
        <p:spPr>
          <a:xfrm>
            <a:off x="8193024" y="4672584"/>
            <a:ext cx="73152" cy="117043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0" name="Shape 50"/>
          <p:cNvSpPr/>
          <p:nvPr/>
        </p:nvSpPr>
        <p:spPr>
          <a:xfrm>
            <a:off x="8412480" y="4873752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6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40862" y="5002134"/>
            <a:ext cx="218724" cy="218724"/>
          </a:xfrm>
          <a:prstGeom prst="rect">
            <a:avLst/>
          </a:prstGeom>
        </p:spPr>
      </p:pic>
      <p:sp>
        <p:nvSpPr>
          <p:cNvPr id="62" name="Text 51"/>
          <p:cNvSpPr/>
          <p:nvPr/>
        </p:nvSpPr>
        <p:spPr>
          <a:xfrm>
            <a:off x="9015984" y="4855464"/>
            <a:ext cx="25603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Guardrails</a:t>
            </a:r>
            <a:endParaRPr lang="en-US" sz="1320" dirty="0"/>
          </a:p>
        </p:txBody>
      </p:sp>
      <p:sp>
        <p:nvSpPr>
          <p:cNvPr id="63" name="Text 52"/>
          <p:cNvSpPr/>
          <p:nvPr/>
        </p:nvSpPr>
        <p:spPr>
          <a:xfrm>
            <a:off x="8449056" y="5495544"/>
            <a:ext cx="309067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Monitor, Grafana, Policy, Gatekeeper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0292" cy="685800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0" y="-1188720"/>
            <a:ext cx="3108960" cy="3108960"/>
          </a:xfrm>
          <a:prstGeom prst="ellipse">
            <a:avLst/>
          </a:prstGeom>
          <a:solidFill>
            <a:srgbClr val="DDF2F7">
              <a:alpha val="18000"/>
            </a:srgbClr>
          </a:solidFill>
          <a:ln w="12700">
            <a:solidFill>
              <a:srgbClr val="DDF2F7">
                <a:alpha val="4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84048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 PORTAL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667512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Backstage for application deployment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1231575" y="635508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Multi-Cluster Platform Engineering on AKS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implementation: Backstage is the app team's self-service front door. It generates a GitOps pull request for a service catalog entity and an ArgoCD Application.</a:t>
            </a:r>
            <a:endParaRPr lang="en-US" sz="1280" dirty="0"/>
          </a:p>
        </p:txBody>
      </p:sp>
      <p:sp>
        <p:nvSpPr>
          <p:cNvPr id="10" name="Shape 8"/>
          <p:cNvSpPr/>
          <p:nvPr/>
        </p:nvSpPr>
        <p:spPr>
          <a:xfrm>
            <a:off x="658368" y="2057400"/>
            <a:ext cx="370332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" y="2057400"/>
            <a:ext cx="73152" cy="29260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2258568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6206" y="2386950"/>
            <a:ext cx="218724" cy="21872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81328" y="2240280"/>
            <a:ext cx="269748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Backstage portal</a:t>
            </a:r>
            <a:endParaRPr lang="en-US" sz="1320" dirty="0"/>
          </a:p>
        </p:txBody>
      </p:sp>
      <p:sp>
        <p:nvSpPr>
          <p:cNvPr id="15" name="Text 12"/>
          <p:cNvSpPr/>
          <p:nvPr/>
        </p:nvSpPr>
        <p:spPr>
          <a:xfrm>
            <a:off x="914400" y="2880360"/>
            <a:ext cx="3227832" cy="1856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Catalog, TechDocs, ownership, and golden-path templates in one customer-facing developer experience.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914400" y="4636008"/>
            <a:ext cx="322783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Single front door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553712" y="2057400"/>
            <a:ext cx="33832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53712" y="2057400"/>
            <a:ext cx="73152" cy="29260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773168" y="2258568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550" y="2386950"/>
            <a:ext cx="218724" cy="21872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376672" y="2240280"/>
            <a:ext cx="23774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Software Template</a:t>
            </a:r>
            <a:endParaRPr lang="en-US" sz="1320" dirty="0"/>
          </a:p>
        </p:txBody>
      </p:sp>
      <p:sp>
        <p:nvSpPr>
          <p:cNvPr id="22" name="Text 18"/>
          <p:cNvSpPr/>
          <p:nvPr/>
        </p:nvSpPr>
        <p:spPr>
          <a:xfrm>
            <a:off x="4809744" y="2880360"/>
            <a:ext cx="2907792" cy="1856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Application with ArgoCD collects app name, namespace, source repo, manifest path, and target GitOps repo.</a:t>
            </a:r>
            <a:endParaRPr lang="en-US" sz="1080" dirty="0"/>
          </a:p>
        </p:txBody>
      </p:sp>
      <p:sp>
        <p:nvSpPr>
          <p:cNvPr id="23" name="Text 19"/>
          <p:cNvSpPr/>
          <p:nvPr/>
        </p:nvSpPr>
        <p:spPr>
          <a:xfrm>
            <a:off x="4809744" y="4636008"/>
            <a:ext cx="290779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Guided self-service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8138160" y="2057400"/>
            <a:ext cx="34290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8138160" y="2057400"/>
            <a:ext cx="73152" cy="2926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57616" y="2258568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998" y="2386950"/>
            <a:ext cx="218724" cy="218724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8961120" y="2240280"/>
            <a:ext cx="24231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Reviewable PR</a:t>
            </a:r>
            <a:endParaRPr lang="en-US" sz="1320" dirty="0"/>
          </a:p>
        </p:txBody>
      </p:sp>
      <p:sp>
        <p:nvSpPr>
          <p:cNvPr id="29" name="Text 24"/>
          <p:cNvSpPr/>
          <p:nvPr/>
        </p:nvSpPr>
        <p:spPr>
          <a:xfrm>
            <a:off x="8394192" y="2880360"/>
            <a:ext cx="2953512" cy="1856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service catalog entity and ArgoCD Application manifest for platform review and merge.</a:t>
            </a:r>
            <a:endParaRPr lang="en-US" sz="1080" dirty="0"/>
          </a:p>
        </p:txBody>
      </p:sp>
      <p:sp>
        <p:nvSpPr>
          <p:cNvPr id="30" name="Text 25"/>
          <p:cNvSpPr/>
          <p:nvPr/>
        </p:nvSpPr>
        <p:spPr>
          <a:xfrm>
            <a:off x="8394192" y="4636008"/>
            <a:ext cx="295351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GitOps, not direct kubectl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2331720" y="5541264"/>
            <a:ext cx="7315200" cy="457200"/>
          </a:xfrm>
          <a:prstGeom prst="rect">
            <a:avLst/>
          </a:prstGeom>
          <a:solidFill>
            <a:srgbClr val="0B1026"/>
          </a:solidFill>
          <a:ln w="12700">
            <a:solidFill>
              <a:srgbClr val="0B1026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8000"/>
              </a:srgbClr>
            </a:outerShdw>
          </a:effectLst>
        </p:spPr>
      </p:sp>
      <p:sp>
        <p:nvSpPr>
          <p:cNvPr id="32" name="Text 27"/>
          <p:cNvSpPr/>
          <p:nvPr/>
        </p:nvSpPr>
        <p:spPr>
          <a:xfrm>
            <a:off x="2496312" y="5678424"/>
            <a:ext cx="69860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 focus: app self-service -&gt; Git review -&gt; ArgoCD deployment</a:t>
            </a:r>
            <a:endParaRPr lang="en-US" sz="9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0292" cy="685800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0" y="-1188720"/>
            <a:ext cx="3108960" cy="3108960"/>
          </a:xfrm>
          <a:prstGeom prst="ellipse">
            <a:avLst/>
          </a:prstGeom>
          <a:solidFill>
            <a:srgbClr val="DDF2F7">
              <a:alpha val="18000"/>
            </a:srgbClr>
          </a:solidFill>
          <a:ln w="12700">
            <a:solidFill>
              <a:srgbClr val="DDF2F7">
                <a:alpha val="4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84048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GITOPS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667512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ArgoCD as the common reconciliation loop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1231575" y="635508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Multi-Cluster Platform Engineering on AKS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371600"/>
            <a:ext cx="1078992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connects the three customer demos: app deployment, AKS workload-cluster provisioning, and Arc-enabled external cluster baseline sync.</a:t>
            </a:r>
            <a:endParaRPr lang="en-US" sz="1280" dirty="0"/>
          </a:p>
        </p:txBody>
      </p:sp>
      <p:sp>
        <p:nvSpPr>
          <p:cNvPr id="10" name="Shape 8"/>
          <p:cNvSpPr/>
          <p:nvPr/>
        </p:nvSpPr>
        <p:spPr>
          <a:xfrm>
            <a:off x="713232" y="2267712"/>
            <a:ext cx="21488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0B1026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59536" y="2414016"/>
            <a:ext cx="420624" cy="420624"/>
          </a:xfrm>
          <a:prstGeom prst="ellipse">
            <a:avLst/>
          </a:prstGeom>
          <a:solidFill>
            <a:srgbClr val="0B1026"/>
          </a:solidFill>
          <a:ln w="12700">
            <a:solidFill>
              <a:srgbClr val="0B102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104" y="2527584"/>
            <a:ext cx="193487" cy="193487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80744" y="2386584"/>
            <a:ext cx="136245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repository</a:t>
            </a:r>
            <a:endParaRPr lang="en-US" sz="1080" dirty="0"/>
          </a:p>
        </p:txBody>
      </p:sp>
      <p:sp>
        <p:nvSpPr>
          <p:cNvPr id="14" name="Text 11"/>
          <p:cNvSpPr/>
          <p:nvPr/>
        </p:nvSpPr>
        <p:spPr>
          <a:xfrm>
            <a:off x="1380744" y="2651760"/>
            <a:ext cx="1362456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Apps, addons, cluster definitions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3520440" y="2267712"/>
            <a:ext cx="22402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66744" y="2414016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0312" y="2527584"/>
            <a:ext cx="193487" cy="19348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187952" y="2386584"/>
            <a:ext cx="14538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ArgoCD</a:t>
            </a:r>
            <a:endParaRPr lang="en-US" sz="1080" dirty="0"/>
          </a:p>
        </p:txBody>
      </p:sp>
      <p:sp>
        <p:nvSpPr>
          <p:cNvPr id="19" name="Text 15"/>
          <p:cNvSpPr/>
          <p:nvPr/>
        </p:nvSpPr>
        <p:spPr>
          <a:xfrm>
            <a:off x="4187952" y="2651760"/>
            <a:ext cx="1453896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Git and reconciles drift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2862072" y="2660904"/>
            <a:ext cx="658368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headEnd type="none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00800" y="16916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DD4BF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547104" y="1837944"/>
            <a:ext cx="420624" cy="420624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672" y="1951512"/>
            <a:ext cx="193487" cy="193487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68312" y="1810512"/>
            <a:ext cx="15453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Applications</a:t>
            </a:r>
            <a:endParaRPr lang="en-US" sz="1080" dirty="0"/>
          </a:p>
        </p:txBody>
      </p:sp>
      <p:sp>
        <p:nvSpPr>
          <p:cNvPr id="25" name="Text 20"/>
          <p:cNvSpPr/>
          <p:nvPr/>
        </p:nvSpPr>
        <p:spPr>
          <a:xfrm>
            <a:off x="7068312" y="2075688"/>
            <a:ext cx="1545336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Backstage creates ArgoCD Application manifests for services.</a:t>
            </a:r>
            <a:endParaRPr lang="en-US" sz="880" dirty="0"/>
          </a:p>
        </p:txBody>
      </p:sp>
      <p:sp>
        <p:nvSpPr>
          <p:cNvPr id="26" name="Shape 21"/>
          <p:cNvSpPr/>
          <p:nvPr/>
        </p:nvSpPr>
        <p:spPr>
          <a:xfrm>
            <a:off x="9006840" y="16916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7B42B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9153144" y="1837944"/>
            <a:ext cx="420624" cy="420624"/>
          </a:xfrm>
          <a:prstGeom prst="ellipse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6712" y="1951512"/>
            <a:ext cx="193487" cy="193487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674352" y="1810512"/>
            <a:ext cx="15453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CAPZ resources</a:t>
            </a:r>
            <a:endParaRPr lang="en-US" sz="1080" dirty="0"/>
          </a:p>
        </p:txBody>
      </p:sp>
      <p:sp>
        <p:nvSpPr>
          <p:cNvPr id="30" name="Text 24"/>
          <p:cNvSpPr/>
          <p:nvPr/>
        </p:nvSpPr>
        <p:spPr>
          <a:xfrm>
            <a:off x="9674352" y="2075688"/>
            <a:ext cx="1545336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definitions become AzureManagedCluster resources.</a:t>
            </a:r>
            <a:endParaRPr lang="en-US" sz="880" dirty="0"/>
          </a:p>
        </p:txBody>
      </p:sp>
      <p:sp>
        <p:nvSpPr>
          <p:cNvPr id="31" name="Shape 25"/>
          <p:cNvSpPr/>
          <p:nvPr/>
        </p:nvSpPr>
        <p:spPr>
          <a:xfrm>
            <a:off x="6400800" y="3822192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6547104" y="3968496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0672" y="4082064"/>
            <a:ext cx="193487" cy="19348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068312" y="3941064"/>
            <a:ext cx="15453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Platform addons</a:t>
            </a:r>
            <a:endParaRPr lang="en-US" sz="1080" dirty="0"/>
          </a:p>
        </p:txBody>
      </p:sp>
      <p:sp>
        <p:nvSpPr>
          <p:cNvPr id="35" name="Text 28"/>
          <p:cNvSpPr/>
          <p:nvPr/>
        </p:nvSpPr>
        <p:spPr>
          <a:xfrm>
            <a:off x="7068312" y="4206240"/>
            <a:ext cx="1545336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secrets, policy, observability are applied consistently.</a:t>
            </a:r>
            <a:endParaRPr lang="en-US" sz="880" dirty="0"/>
          </a:p>
        </p:txBody>
      </p:sp>
      <p:sp>
        <p:nvSpPr>
          <p:cNvPr id="36" name="Shape 29"/>
          <p:cNvSpPr/>
          <p:nvPr/>
        </p:nvSpPr>
        <p:spPr>
          <a:xfrm>
            <a:off x="9006840" y="3822192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9153144" y="3968496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6712" y="4082064"/>
            <a:ext cx="193487" cy="193487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9674352" y="3941064"/>
            <a:ext cx="154533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 baseline</a:t>
            </a:r>
            <a:endParaRPr lang="en-US" sz="1080" dirty="0"/>
          </a:p>
        </p:txBody>
      </p:sp>
      <p:sp>
        <p:nvSpPr>
          <p:cNvPr id="40" name="Text 32"/>
          <p:cNvSpPr/>
          <p:nvPr/>
        </p:nvSpPr>
        <p:spPr>
          <a:xfrm>
            <a:off x="9674352" y="4206240"/>
            <a:ext cx="1545336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clusters receive curated workloads only.</a:t>
            </a:r>
            <a:endParaRPr lang="en-US" sz="880" dirty="0"/>
          </a:p>
        </p:txBody>
      </p:sp>
      <p:sp>
        <p:nvSpPr>
          <p:cNvPr id="41" name="Shape 33"/>
          <p:cNvSpPr/>
          <p:nvPr/>
        </p:nvSpPr>
        <p:spPr>
          <a:xfrm>
            <a:off x="5760720" y="2148840"/>
            <a:ext cx="640080" cy="512064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headEnd type="none"/>
            <a:tailEnd type="triangle"/>
          </a:ln>
        </p:spPr>
      </p:sp>
      <p:sp>
        <p:nvSpPr>
          <p:cNvPr id="42" name="Shape 34"/>
          <p:cNvSpPr/>
          <p:nvPr/>
        </p:nvSpPr>
        <p:spPr>
          <a:xfrm>
            <a:off x="5760720" y="2660904"/>
            <a:ext cx="640080" cy="1618488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headEnd type="none"/>
            <a:tailEnd type="triangle"/>
          </a:ln>
        </p:spPr>
      </p:sp>
      <p:sp>
        <p:nvSpPr>
          <p:cNvPr id="43" name="Shape 35"/>
          <p:cNvSpPr/>
          <p:nvPr/>
        </p:nvSpPr>
        <p:spPr>
          <a:xfrm>
            <a:off x="713232" y="5266944"/>
            <a:ext cx="461772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8000"/>
              </a:srgbClr>
            </a:outerShdw>
          </a:effectLst>
        </p:spPr>
      </p:sp>
      <p:sp>
        <p:nvSpPr>
          <p:cNvPr id="44" name="Text 36"/>
          <p:cNvSpPr/>
          <p:nvPr/>
        </p:nvSpPr>
        <p:spPr>
          <a:xfrm>
            <a:off x="877824" y="5404104"/>
            <a:ext cx="42885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change is a Git commit: review, audit, rollback</a:t>
            </a:r>
            <a:endParaRPr lang="en-US" sz="9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0292" cy="685800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0" y="-1188720"/>
            <a:ext cx="3108960" cy="3108960"/>
          </a:xfrm>
          <a:prstGeom prst="ellipse">
            <a:avLst/>
          </a:prstGeom>
          <a:solidFill>
            <a:srgbClr val="DDF2F7">
              <a:alpha val="18000"/>
            </a:srgbClr>
          </a:solidFill>
          <a:ln w="12700">
            <a:solidFill>
              <a:srgbClr val="DDF2F7">
                <a:alpha val="4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84048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PROGRESSIVE DELIVERY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667512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Argo Rollouts ships apps safely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1231575" y="635508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Multi-Cluster Platform Engineering on AKS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371600"/>
            <a:ext cx="1078992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Backstage puts an app under GitOps, Argo Rollouts can control release strategy using managed Prometheus metrics and Grafana visibility.</a:t>
            </a:r>
            <a:endParaRPr lang="en-US" sz="1280" dirty="0"/>
          </a:p>
        </p:txBody>
      </p:sp>
      <p:sp>
        <p:nvSpPr>
          <p:cNvPr id="10" name="Shape 8"/>
          <p:cNvSpPr/>
          <p:nvPr/>
        </p:nvSpPr>
        <p:spPr>
          <a:xfrm>
            <a:off x="658368" y="214884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" y="2148840"/>
            <a:ext cx="73152" cy="25146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2350008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6206" y="2478390"/>
            <a:ext cx="218724" cy="21872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81328" y="2331720"/>
            <a:ext cx="16002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Commit</a:t>
            </a:r>
            <a:endParaRPr lang="en-US" sz="1320" dirty="0"/>
          </a:p>
        </p:txBody>
      </p:sp>
      <p:sp>
        <p:nvSpPr>
          <p:cNvPr id="15" name="Text 12"/>
          <p:cNvSpPr/>
          <p:nvPr/>
        </p:nvSpPr>
        <p:spPr>
          <a:xfrm>
            <a:off x="914400" y="2971800"/>
            <a:ext cx="2130552" cy="1444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image or manifest change lands in Git.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3538728" y="214884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538728" y="2148840"/>
            <a:ext cx="73152" cy="2514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58184" y="2350008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566" y="2478390"/>
            <a:ext cx="218724" cy="21872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361688" y="2331720"/>
            <a:ext cx="16002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Sync</a:t>
            </a:r>
            <a:endParaRPr lang="en-US" sz="1320" dirty="0"/>
          </a:p>
        </p:txBody>
      </p:sp>
      <p:sp>
        <p:nvSpPr>
          <p:cNvPr id="21" name="Text 17"/>
          <p:cNvSpPr/>
          <p:nvPr/>
        </p:nvSpPr>
        <p:spPr>
          <a:xfrm>
            <a:off x="3794760" y="2971800"/>
            <a:ext cx="2130552" cy="1444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reconciles the desired app revision.</a:t>
            </a:r>
            <a:endParaRPr lang="en-US" sz="1080" dirty="0"/>
          </a:p>
        </p:txBody>
      </p:sp>
      <p:sp>
        <p:nvSpPr>
          <p:cNvPr id="22" name="Shape 18"/>
          <p:cNvSpPr/>
          <p:nvPr/>
        </p:nvSpPr>
        <p:spPr>
          <a:xfrm>
            <a:off x="6419088" y="214884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419088" y="2148840"/>
            <a:ext cx="73152" cy="25146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638544" y="2350008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926" y="2478390"/>
            <a:ext cx="218724" cy="21872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242048" y="2331720"/>
            <a:ext cx="16002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Analyze</a:t>
            </a:r>
            <a:endParaRPr lang="en-US" sz="1320" dirty="0"/>
          </a:p>
        </p:txBody>
      </p:sp>
      <p:sp>
        <p:nvSpPr>
          <p:cNvPr id="27" name="Text 22"/>
          <p:cNvSpPr/>
          <p:nvPr/>
        </p:nvSpPr>
        <p:spPr>
          <a:xfrm>
            <a:off x="6675120" y="2971800"/>
            <a:ext cx="2130552" cy="1444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metrics validate SLOs during canary.</a:t>
            </a:r>
            <a:endParaRPr lang="en-US" sz="1080" dirty="0"/>
          </a:p>
        </p:txBody>
      </p:sp>
      <p:sp>
        <p:nvSpPr>
          <p:cNvPr id="28" name="Shape 23"/>
          <p:cNvSpPr/>
          <p:nvPr/>
        </p:nvSpPr>
        <p:spPr>
          <a:xfrm>
            <a:off x="9299448" y="214884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299448" y="2148840"/>
            <a:ext cx="73152" cy="25146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518904" y="2350008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7286" y="2478390"/>
            <a:ext cx="218724" cy="21872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0122408" y="2331720"/>
            <a:ext cx="16002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Decide</a:t>
            </a:r>
            <a:endParaRPr lang="en-US" sz="1320" dirty="0"/>
          </a:p>
        </p:txBody>
      </p:sp>
      <p:sp>
        <p:nvSpPr>
          <p:cNvPr id="33" name="Text 27"/>
          <p:cNvSpPr/>
          <p:nvPr/>
        </p:nvSpPr>
        <p:spPr>
          <a:xfrm>
            <a:off x="9555480" y="2971800"/>
            <a:ext cx="2130552" cy="1444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good versions or automatically roll back.</a:t>
            </a:r>
            <a:endParaRPr lang="en-US" sz="1080" dirty="0"/>
          </a:p>
        </p:txBody>
      </p:sp>
      <p:sp>
        <p:nvSpPr>
          <p:cNvPr id="34" name="Shape 28"/>
          <p:cNvSpPr/>
          <p:nvPr/>
        </p:nvSpPr>
        <p:spPr>
          <a:xfrm>
            <a:off x="1920240" y="5413248"/>
            <a:ext cx="8321040" cy="457200"/>
          </a:xfrm>
          <a:prstGeom prst="rect">
            <a:avLst/>
          </a:prstGeom>
          <a:solidFill>
            <a:srgbClr val="0B1026"/>
          </a:solidFill>
          <a:ln w="12700">
            <a:solidFill>
              <a:srgbClr val="0B1026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8000"/>
              </a:srgbClr>
            </a:outerShdw>
          </a:effectLst>
        </p:spPr>
      </p:sp>
      <p:sp>
        <p:nvSpPr>
          <p:cNvPr id="35" name="Text 29"/>
          <p:cNvSpPr/>
          <p:nvPr/>
        </p:nvSpPr>
        <p:spPr>
          <a:xfrm>
            <a:off x="2084832" y="5550408"/>
            <a:ext cx="799185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teams get speed; platform teams keep safety gates and observability.</a:t>
            </a:r>
            <a:endParaRPr lang="en-US" sz="9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0292" cy="685800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0" y="-1188720"/>
            <a:ext cx="3108960" cy="3108960"/>
          </a:xfrm>
          <a:prstGeom prst="ellipse">
            <a:avLst/>
          </a:prstGeom>
          <a:solidFill>
            <a:srgbClr val="DDF2F7">
              <a:alpha val="18000"/>
            </a:srgbClr>
          </a:solidFill>
          <a:ln w="12700">
            <a:solidFill>
              <a:srgbClr val="DDF2F7">
                <a:alpha val="4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84048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AKS MULTI-CLUSTER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667512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 Kubernetes Fleet Manager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1231575" y="635508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Multi-Cluster Platform Engineering on AKS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371600"/>
            <a:ext cx="1078992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Manager governs AKS clusters as a logical fleet. In this architecture, workload clusters are created through GitOps/CAPZ and joined to Fleet after the cluster is ready.</a:t>
            </a:r>
            <a:endParaRPr lang="en-US" sz="1280" dirty="0"/>
          </a:p>
        </p:txBody>
      </p:sp>
      <p:sp>
        <p:nvSpPr>
          <p:cNvPr id="10" name="Shape 8"/>
          <p:cNvSpPr/>
          <p:nvPr/>
        </p:nvSpPr>
        <p:spPr>
          <a:xfrm>
            <a:off x="658368" y="2048256"/>
            <a:ext cx="35204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" y="2048256"/>
            <a:ext cx="73152" cy="3063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2249424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6206" y="2377806"/>
            <a:ext cx="218724" cy="21872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81328" y="2231136"/>
            <a:ext cx="25146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Fleet hub</a:t>
            </a:r>
            <a:endParaRPr lang="en-US" sz="1320" dirty="0"/>
          </a:p>
        </p:txBody>
      </p:sp>
      <p:sp>
        <p:nvSpPr>
          <p:cNvPr id="15" name="Text 12"/>
          <p:cNvSpPr/>
          <p:nvPr/>
        </p:nvSpPr>
        <p:spPr>
          <a:xfrm>
            <a:off x="914400" y="2871216"/>
            <a:ext cx="3044952" cy="1993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control-plane and workload AKS clusters into a managed fleet boundary.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4370832" y="2048256"/>
            <a:ext cx="35204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70832" y="2048256"/>
            <a:ext cx="73152" cy="30632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90288" y="2249424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670" y="2377806"/>
            <a:ext cx="218724" cy="21872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193792" y="2231136"/>
            <a:ext cx="25146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groups</a:t>
            </a:r>
            <a:endParaRPr lang="en-US" sz="1320" dirty="0"/>
          </a:p>
        </p:txBody>
      </p:sp>
      <p:sp>
        <p:nvSpPr>
          <p:cNvPr id="21" name="Text 17"/>
          <p:cNvSpPr/>
          <p:nvPr/>
        </p:nvSpPr>
        <p:spPr>
          <a:xfrm>
            <a:off x="4626864" y="2871216"/>
            <a:ext cx="3044952" cy="1993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Kubernetes and node upgrades across selected member groups.</a:t>
            </a:r>
            <a:endParaRPr lang="en-US" sz="1080" dirty="0"/>
          </a:p>
        </p:txBody>
      </p:sp>
      <p:sp>
        <p:nvSpPr>
          <p:cNvPr id="22" name="Shape 18"/>
          <p:cNvSpPr/>
          <p:nvPr/>
        </p:nvSpPr>
        <p:spPr>
          <a:xfrm>
            <a:off x="8065008" y="2048256"/>
            <a:ext cx="35204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065008" y="2048256"/>
            <a:ext cx="73152" cy="30632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284464" y="2249424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846" y="2377806"/>
            <a:ext cx="218724" cy="21872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887968" y="2231136"/>
            <a:ext cx="25146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 workload clusters</a:t>
            </a:r>
            <a:endParaRPr lang="en-US" sz="1320" dirty="0"/>
          </a:p>
        </p:txBody>
      </p:sp>
      <p:sp>
        <p:nvSpPr>
          <p:cNvPr id="27" name="Text 22"/>
          <p:cNvSpPr/>
          <p:nvPr/>
        </p:nvSpPr>
        <p:spPr>
          <a:xfrm>
            <a:off x="8321040" y="2871216"/>
            <a:ext cx="3044952" cy="1993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AKS clusters join the fleet and inherit consistent update and governance patterns.</a:t>
            </a:r>
            <a:endParaRPr lang="en-US" sz="1080" dirty="0"/>
          </a:p>
        </p:txBody>
      </p:sp>
      <p:sp>
        <p:nvSpPr>
          <p:cNvPr id="28" name="Shape 23"/>
          <p:cNvSpPr/>
          <p:nvPr/>
        </p:nvSpPr>
        <p:spPr>
          <a:xfrm>
            <a:off x="1417320" y="5532120"/>
            <a:ext cx="2011680" cy="320040"/>
          </a:xfrm>
          <a:prstGeom prst="roundRect">
            <a:avLst>
              <a:gd name="adj" fmla="val 1714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1417320" y="5582412"/>
            <a:ext cx="20116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AKS -&gt; Fleet Manager</a:t>
            </a:r>
            <a:endParaRPr lang="en-US" sz="860" dirty="0"/>
          </a:p>
        </p:txBody>
      </p:sp>
      <p:sp>
        <p:nvSpPr>
          <p:cNvPr id="30" name="Shape 25"/>
          <p:cNvSpPr/>
          <p:nvPr/>
        </p:nvSpPr>
        <p:spPr>
          <a:xfrm>
            <a:off x="4160520" y="5532120"/>
            <a:ext cx="2148840" cy="320040"/>
          </a:xfrm>
          <a:prstGeom prst="roundRect">
            <a:avLst>
              <a:gd name="adj" fmla="val 1714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4160520" y="5582412"/>
            <a:ext cx="21488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Non-AKS -&gt; Azure Arc</a:t>
            </a:r>
            <a:endParaRPr lang="en-US" sz="860" dirty="0"/>
          </a:p>
        </p:txBody>
      </p:sp>
      <p:sp>
        <p:nvSpPr>
          <p:cNvPr id="32" name="Shape 27"/>
          <p:cNvSpPr/>
          <p:nvPr/>
        </p:nvSpPr>
        <p:spPr>
          <a:xfrm>
            <a:off x="7040880" y="5532120"/>
            <a:ext cx="2423160" cy="320040"/>
          </a:xfrm>
          <a:prstGeom prst="roundRect">
            <a:avLst>
              <a:gd name="adj" fmla="val 17143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7040880" y="5582412"/>
            <a:ext cx="24231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desired state -&gt; ArgoCD</a:t>
            </a:r>
            <a:endParaRPr lang="en-US" sz="8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0292" cy="685800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0" y="-1188720"/>
            <a:ext cx="3108960" cy="3108960"/>
          </a:xfrm>
          <a:prstGeom prst="ellipse">
            <a:avLst/>
          </a:prstGeom>
          <a:solidFill>
            <a:srgbClr val="DDF2F7">
              <a:alpha val="18000"/>
            </a:srgbClr>
          </a:solidFill>
          <a:ln w="12700">
            <a:solidFill>
              <a:srgbClr val="DDF2F7">
                <a:alpha val="4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84048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INFRASTRUCTURE AS SERVICE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667512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CAPZ + ASO for Azure-first cluster automation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1231575" y="635508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Multi-Cluster Platform Engineering on AKS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371600"/>
            <a:ext cx="1078992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 supports Crossplane or CAPZ, but the latest customer demo uses CAPZ + Azure Service Operator to create AKS workload clusters from Git.</a:t>
            </a:r>
            <a:endParaRPr lang="en-US" sz="1280" dirty="0"/>
          </a:p>
        </p:txBody>
      </p:sp>
      <p:sp>
        <p:nvSpPr>
          <p:cNvPr id="10" name="Shape 8"/>
          <p:cNvSpPr/>
          <p:nvPr/>
        </p:nvSpPr>
        <p:spPr>
          <a:xfrm>
            <a:off x="777240" y="1965960"/>
            <a:ext cx="51206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1965960"/>
            <a:ext cx="73152" cy="3611880"/>
          </a:xfrm>
          <a:prstGeom prst="rect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6696" y="2167128"/>
            <a:ext cx="475488" cy="475488"/>
          </a:xfrm>
          <a:prstGeom prst="ellipse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078" y="2295510"/>
            <a:ext cx="218724" cy="21872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600200" y="2148840"/>
            <a:ext cx="41148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CAPZ + ASO</a:t>
            </a:r>
            <a:endParaRPr lang="en-US" sz="1320" dirty="0"/>
          </a:p>
        </p:txBody>
      </p:sp>
      <p:sp>
        <p:nvSpPr>
          <p:cNvPr id="15" name="Text 12"/>
          <p:cNvSpPr/>
          <p:nvPr/>
        </p:nvSpPr>
        <p:spPr>
          <a:xfrm>
            <a:off x="1033272" y="2788920"/>
            <a:ext cx="4645152" cy="2542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API Provider Azure emits AzureManagedControlPlane, AzureManagedCluster, and managed machine pool resources. ASO maps directly to Azure APIs.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1033272" y="5230368"/>
            <a:ext cx="464515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 fit: Azure-first, full API fidelity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263640" y="1965960"/>
            <a:ext cx="51206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263640" y="1965960"/>
            <a:ext cx="73152" cy="36118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83096" y="2167128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478" y="2295510"/>
            <a:ext cx="218724" cy="21872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86600" y="2148840"/>
            <a:ext cx="41148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Crossplane (alternative)</a:t>
            </a:r>
            <a:endParaRPr lang="en-US" sz="1320" dirty="0"/>
          </a:p>
        </p:txBody>
      </p:sp>
      <p:sp>
        <p:nvSpPr>
          <p:cNvPr id="22" name="Text 18"/>
          <p:cNvSpPr/>
          <p:nvPr/>
        </p:nvSpPr>
        <p:spPr>
          <a:xfrm>
            <a:off x="6519672" y="2788920"/>
            <a:ext cx="4645152" cy="2542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offers a cloud-agnostic control plane and composition model when portability across providers is the priority.</a:t>
            </a:r>
            <a:endParaRPr lang="en-US" sz="1080" dirty="0"/>
          </a:p>
        </p:txBody>
      </p:sp>
      <p:sp>
        <p:nvSpPr>
          <p:cNvPr id="23" name="Text 19"/>
          <p:cNvSpPr/>
          <p:nvPr/>
        </p:nvSpPr>
        <p:spPr>
          <a:xfrm>
            <a:off x="6519672" y="5230368"/>
            <a:ext cx="464515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 fit: multi-cloud platform abstractions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2423160" y="5815584"/>
            <a:ext cx="7315200" cy="457200"/>
          </a:xfrm>
          <a:prstGeom prst="rect">
            <a:avLst/>
          </a:prstGeom>
          <a:solidFill>
            <a:srgbClr val="0B1026"/>
          </a:solidFill>
          <a:ln w="12700">
            <a:solidFill>
              <a:srgbClr val="0B1026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8000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2587752" y="5952744"/>
            <a:ext cx="69860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Standard cluster profile: Standard_D4s_v5 nodes, Managed OS disk, dedicated system pool</a:t>
            </a:r>
            <a:endParaRPr lang="en-US" sz="9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0292" cy="685800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0" y="-1188720"/>
            <a:ext cx="3108960" cy="3108960"/>
          </a:xfrm>
          <a:prstGeom prst="ellipse">
            <a:avLst/>
          </a:prstGeom>
          <a:solidFill>
            <a:srgbClr val="DDF2F7">
              <a:alpha val="18000"/>
            </a:srgbClr>
          </a:solidFill>
          <a:ln w="12700">
            <a:solidFill>
              <a:srgbClr val="DDF2F7">
                <a:alpha val="4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84048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 CLUSTERS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667512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 Arc-enabled Kubernetes for non-AKS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1231575" y="635508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Multi-Cluster Platform Engineering on AKS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371600"/>
            <a:ext cx="1078992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 is the governance path for external clusters: on-prem, edge, kind, k3s, or other-cloud Kubernetes. AKS remains governed by Fleet Manager.</a:t>
            </a:r>
            <a:endParaRPr lang="en-US" sz="1280" dirty="0"/>
          </a:p>
        </p:txBody>
      </p:sp>
      <p:sp>
        <p:nvSpPr>
          <p:cNvPr id="10" name="Shape 8"/>
          <p:cNvSpPr/>
          <p:nvPr/>
        </p:nvSpPr>
        <p:spPr>
          <a:xfrm>
            <a:off x="713232" y="233172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397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59536" y="2478024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104" y="2591592"/>
            <a:ext cx="193487" cy="193487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80744" y="2450592"/>
            <a:ext cx="149961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 cluster</a:t>
            </a:r>
            <a:endParaRPr lang="en-US" sz="1080" dirty="0"/>
          </a:p>
        </p:txBody>
      </p:sp>
      <p:sp>
        <p:nvSpPr>
          <p:cNvPr id="14" name="Text 11"/>
          <p:cNvSpPr/>
          <p:nvPr/>
        </p:nvSpPr>
        <p:spPr>
          <a:xfrm>
            <a:off x="1380744" y="2715768"/>
            <a:ext cx="14996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VM-hosted kind, k3s, on-prem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3611880" y="233172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397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758184" y="2478024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1752" y="2591592"/>
            <a:ext cx="193487" cy="19348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279392" y="2450592"/>
            <a:ext cx="149961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 Arc</a:t>
            </a:r>
            <a:endParaRPr lang="en-US" sz="1080" dirty="0"/>
          </a:p>
        </p:txBody>
      </p:sp>
      <p:sp>
        <p:nvSpPr>
          <p:cNvPr id="19" name="Text 15"/>
          <p:cNvSpPr/>
          <p:nvPr/>
        </p:nvSpPr>
        <p:spPr>
          <a:xfrm>
            <a:off x="4279392" y="2715768"/>
            <a:ext cx="14996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connectedClusters resource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6492240" y="233172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397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38544" y="2478024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112" y="2591592"/>
            <a:ext cx="193487" cy="19348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159752" y="2450592"/>
            <a:ext cx="149961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ArgoCD Secret</a:t>
            </a:r>
            <a:endParaRPr lang="en-US" sz="1080" dirty="0"/>
          </a:p>
        </p:txBody>
      </p:sp>
      <p:sp>
        <p:nvSpPr>
          <p:cNvPr id="24" name="Text 19"/>
          <p:cNvSpPr/>
          <p:nvPr/>
        </p:nvSpPr>
        <p:spPr>
          <a:xfrm>
            <a:off x="7159752" y="2715768"/>
            <a:ext cx="14996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+ token + labels</a:t>
            </a:r>
            <a:endParaRPr lang="en-US" sz="880" dirty="0"/>
          </a:p>
        </p:txBody>
      </p:sp>
      <p:sp>
        <p:nvSpPr>
          <p:cNvPr id="25" name="Shape 20"/>
          <p:cNvSpPr/>
          <p:nvPr/>
        </p:nvSpPr>
        <p:spPr>
          <a:xfrm>
            <a:off x="9308592" y="233172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3970">
            <a:solidFill>
              <a:srgbClr val="16A34A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454896" y="2478024"/>
            <a:ext cx="420624" cy="42062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8464" y="2591592"/>
            <a:ext cx="193487" cy="193487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976104" y="2450592"/>
            <a:ext cx="149961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Baseline app</a:t>
            </a:r>
            <a:endParaRPr lang="en-US" sz="1080" dirty="0"/>
          </a:p>
        </p:txBody>
      </p:sp>
      <p:sp>
        <p:nvSpPr>
          <p:cNvPr id="29" name="Text 23"/>
          <p:cNvSpPr/>
          <p:nvPr/>
        </p:nvSpPr>
        <p:spPr>
          <a:xfrm>
            <a:off x="9976104" y="2715768"/>
            <a:ext cx="14996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add-on sync only</a:t>
            </a:r>
            <a:endParaRPr lang="en-US" sz="880" dirty="0"/>
          </a:p>
        </p:txBody>
      </p:sp>
      <p:sp>
        <p:nvSpPr>
          <p:cNvPr id="30" name="Shape 24"/>
          <p:cNvSpPr/>
          <p:nvPr/>
        </p:nvSpPr>
        <p:spPr>
          <a:xfrm>
            <a:off x="2999232" y="2743200"/>
            <a:ext cx="612648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headEnd type="none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5897880" y="2743200"/>
            <a:ext cx="59436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  <a:headEnd type="none"/>
            <a:tailEnd type="triangle"/>
          </a:ln>
        </p:spPr>
      </p:sp>
      <p:sp>
        <p:nvSpPr>
          <p:cNvPr id="32" name="Shape 26"/>
          <p:cNvSpPr/>
          <p:nvPr/>
        </p:nvSpPr>
        <p:spPr>
          <a:xfrm>
            <a:off x="8778240" y="2743200"/>
            <a:ext cx="530352" cy="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  <a:headEnd type="none"/>
            <a:tailEnd type="triangle"/>
          </a:ln>
        </p:spPr>
      </p:sp>
      <p:sp>
        <p:nvSpPr>
          <p:cNvPr id="33" name="Shape 27"/>
          <p:cNvSpPr/>
          <p:nvPr/>
        </p:nvSpPr>
        <p:spPr>
          <a:xfrm>
            <a:off x="713232" y="3977640"/>
            <a:ext cx="32918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713232" y="3977640"/>
            <a:ext cx="73152" cy="14173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932688" y="4178808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1070" y="4307190"/>
            <a:ext cx="218724" cy="218724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1536192" y="4160520"/>
            <a:ext cx="22860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Boundary rule</a:t>
            </a:r>
            <a:endParaRPr lang="en-US" sz="1320" dirty="0"/>
          </a:p>
        </p:txBody>
      </p:sp>
      <p:sp>
        <p:nvSpPr>
          <p:cNvPr id="38" name="Text 31"/>
          <p:cNvSpPr/>
          <p:nvPr/>
        </p:nvSpPr>
        <p:spPr>
          <a:xfrm>
            <a:off x="969264" y="4800600"/>
            <a:ext cx="281635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 clusters use Fleet Manager. Non-AKS clusters use Azure Arc-enabled Kubernetes.</a:t>
            </a:r>
            <a:endParaRPr lang="en-US" sz="1080" dirty="0"/>
          </a:p>
        </p:txBody>
      </p:sp>
      <p:sp>
        <p:nvSpPr>
          <p:cNvPr id="39" name="Shape 32"/>
          <p:cNvSpPr/>
          <p:nvPr/>
        </p:nvSpPr>
        <p:spPr>
          <a:xfrm>
            <a:off x="4443984" y="3977640"/>
            <a:ext cx="32918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4443984" y="3977640"/>
            <a:ext cx="73152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4663440" y="4178808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1822" y="4307190"/>
            <a:ext cx="218724" cy="218724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5266944" y="4160520"/>
            <a:ext cx="22860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network path</a:t>
            </a:r>
            <a:endParaRPr lang="en-US" sz="1320" dirty="0"/>
          </a:p>
        </p:txBody>
      </p:sp>
      <p:sp>
        <p:nvSpPr>
          <p:cNvPr id="44" name="Text 36"/>
          <p:cNvSpPr/>
          <p:nvPr/>
        </p:nvSpPr>
        <p:spPr>
          <a:xfrm>
            <a:off x="4700016" y="4800600"/>
            <a:ext cx="281635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VM-hosted kind binds to a private VM IP so AKS-hosted ArgoCD can reach it.</a:t>
            </a:r>
            <a:endParaRPr lang="en-US" sz="1080" dirty="0"/>
          </a:p>
        </p:txBody>
      </p:sp>
      <p:sp>
        <p:nvSpPr>
          <p:cNvPr id="45" name="Shape 37"/>
          <p:cNvSpPr/>
          <p:nvPr/>
        </p:nvSpPr>
        <p:spPr>
          <a:xfrm>
            <a:off x="8183880" y="3977640"/>
            <a:ext cx="32918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46" name="Shape 38"/>
          <p:cNvSpPr/>
          <p:nvPr/>
        </p:nvSpPr>
        <p:spPr>
          <a:xfrm>
            <a:off x="8183880" y="3977640"/>
            <a:ext cx="73152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8403336" y="4178808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31718" y="4307190"/>
            <a:ext cx="218724" cy="218724"/>
          </a:xfrm>
          <a:prstGeom prst="rect">
            <a:avLst/>
          </a:prstGeom>
        </p:spPr>
      </p:pic>
      <p:sp>
        <p:nvSpPr>
          <p:cNvPr id="49" name="Text 40"/>
          <p:cNvSpPr/>
          <p:nvPr/>
        </p:nvSpPr>
        <p:spPr>
          <a:xfrm>
            <a:off x="9006840" y="4160520"/>
            <a:ext cx="22860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 proof</a:t>
            </a:r>
            <a:endParaRPr lang="en-US" sz="1320" dirty="0"/>
          </a:p>
        </p:txBody>
      </p:sp>
      <p:sp>
        <p:nvSpPr>
          <p:cNvPr id="50" name="Text 41"/>
          <p:cNvSpPr/>
          <p:nvPr/>
        </p:nvSpPr>
        <p:spPr>
          <a:xfrm>
            <a:off x="8439912" y="4800600"/>
            <a:ext cx="281635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 includes repeatable setup, onboarding, verification, and teardown steps.</a:t>
            </a:r>
            <a:endParaRPr lang="en-US" sz="10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0292" cy="685800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0" y="-1188720"/>
            <a:ext cx="3108960" cy="3108960"/>
          </a:xfrm>
          <a:prstGeom prst="ellipse">
            <a:avLst/>
          </a:prstGeom>
          <a:solidFill>
            <a:srgbClr val="DDF2F7">
              <a:alpha val="18000"/>
            </a:srgbClr>
          </a:solidFill>
          <a:ln w="12700">
            <a:solidFill>
              <a:srgbClr val="DDF2F7">
                <a:alpha val="4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84048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 FOUNDATION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667512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Identity and secrets by default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1231575" y="635508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Multi-Cluster Platform Engineering on AKS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371600"/>
            <a:ext cx="1078992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standardizes human and workload identity, then keeps secrets out of Git by mounting them from Azure Key Vault at runtime.</a:t>
            </a:r>
            <a:endParaRPr lang="en-US" sz="1280" dirty="0"/>
          </a:p>
        </p:txBody>
      </p:sp>
      <p:sp>
        <p:nvSpPr>
          <p:cNvPr id="10" name="Shape 8"/>
          <p:cNvSpPr/>
          <p:nvPr/>
        </p:nvSpPr>
        <p:spPr>
          <a:xfrm>
            <a:off x="777240" y="2011680"/>
            <a:ext cx="342900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011680"/>
            <a:ext cx="73152" cy="3154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6696" y="2212848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078" y="2341230"/>
            <a:ext cx="218724" cy="21872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600200" y="2194560"/>
            <a:ext cx="24231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 Entra ID</a:t>
            </a:r>
            <a:endParaRPr lang="en-US" sz="1320" dirty="0"/>
          </a:p>
        </p:txBody>
      </p:sp>
      <p:sp>
        <p:nvSpPr>
          <p:cNvPr id="15" name="Text 12"/>
          <p:cNvSpPr/>
          <p:nvPr/>
        </p:nvSpPr>
        <p:spPr>
          <a:xfrm>
            <a:off x="1033272" y="2834640"/>
            <a:ext cx="2953512" cy="20848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for Backstage, ArgoCD, and Grafana. Groups map to least-privilege platform access.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4434840" y="2011680"/>
            <a:ext cx="342900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434840" y="2011680"/>
            <a:ext cx="73152" cy="3154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54296" y="2212848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678" y="2341230"/>
            <a:ext cx="218724" cy="21872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257800" y="2194560"/>
            <a:ext cx="24231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Workload Identity</a:t>
            </a:r>
            <a:endParaRPr lang="en-US" sz="1320" dirty="0"/>
          </a:p>
        </p:txBody>
      </p:sp>
      <p:sp>
        <p:nvSpPr>
          <p:cNvPr id="21" name="Text 17"/>
          <p:cNvSpPr/>
          <p:nvPr/>
        </p:nvSpPr>
        <p:spPr>
          <a:xfrm>
            <a:off x="4690872" y="2834640"/>
            <a:ext cx="2953512" cy="20848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 use federated identity instead of long-lived service principal secrets.</a:t>
            </a:r>
            <a:endParaRPr lang="en-US" sz="1080" dirty="0"/>
          </a:p>
        </p:txBody>
      </p:sp>
      <p:sp>
        <p:nvSpPr>
          <p:cNvPr id="22" name="Shape 18"/>
          <p:cNvSpPr/>
          <p:nvPr/>
        </p:nvSpPr>
        <p:spPr>
          <a:xfrm>
            <a:off x="8092440" y="2011680"/>
            <a:ext cx="342900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092440" y="2011680"/>
            <a:ext cx="73152" cy="3154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311896" y="2212848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0278" y="2341230"/>
            <a:ext cx="218724" cy="21872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915400" y="2194560"/>
            <a:ext cx="24231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Vault + CSI</a:t>
            </a:r>
            <a:endParaRPr lang="en-US" sz="1320" dirty="0"/>
          </a:p>
        </p:txBody>
      </p:sp>
      <p:sp>
        <p:nvSpPr>
          <p:cNvPr id="27" name="Text 22"/>
          <p:cNvSpPr/>
          <p:nvPr/>
        </p:nvSpPr>
        <p:spPr>
          <a:xfrm>
            <a:off x="8348472" y="2834640"/>
            <a:ext cx="2953512" cy="20848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Secrets, keys, and certs stay in Key Vault and are mounted into pods on demand.</a:t>
            </a:r>
            <a:endParaRPr lang="en-US" sz="1080" dirty="0"/>
          </a:p>
        </p:txBody>
      </p:sp>
      <p:sp>
        <p:nvSpPr>
          <p:cNvPr id="28" name="Shape 23"/>
          <p:cNvSpPr/>
          <p:nvPr/>
        </p:nvSpPr>
        <p:spPr>
          <a:xfrm>
            <a:off x="1920240" y="5577840"/>
            <a:ext cx="8412480" cy="457200"/>
          </a:xfrm>
          <a:prstGeom prst="rect">
            <a:avLst/>
          </a:prstGeom>
          <a:solidFill>
            <a:srgbClr val="0B1026"/>
          </a:solidFill>
          <a:ln w="12700">
            <a:solidFill>
              <a:srgbClr val="0B1026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8000"/>
              </a:srgbClr>
            </a:outerShdw>
          </a:effectLst>
        </p:spPr>
      </p:sp>
      <p:sp>
        <p:nvSpPr>
          <p:cNvPr id="29" name="Text 24"/>
          <p:cNvSpPr/>
          <p:nvPr/>
        </p:nvSpPr>
        <p:spPr>
          <a:xfrm>
            <a:off x="2084832" y="5715000"/>
            <a:ext cx="808329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Secure by default: no credentials in Git, consistent identity, secret rotation without app rewrites</a:t>
            </a:r>
            <a:endParaRPr lang="en-US" sz="9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0292" cy="685800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0" y="-1188720"/>
            <a:ext cx="3108960" cy="3108960"/>
          </a:xfrm>
          <a:prstGeom prst="ellipse">
            <a:avLst/>
          </a:prstGeom>
          <a:solidFill>
            <a:srgbClr val="DDF2F7">
              <a:alpha val="18000"/>
            </a:srgbClr>
          </a:solidFill>
          <a:ln w="12700">
            <a:solidFill>
              <a:srgbClr val="DDF2F7">
                <a:alpha val="4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84048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OPERATIONS AND GUARDRAILS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667512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Observe everything, govern continuously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1231575" y="635508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Multi-Cluster Platform Engineering on AKS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371600"/>
            <a:ext cx="1078992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Fleet-scale Kubernetes needs shared telemetry plus admission and audit guardrails. The repo combines Azure managed services with open standards.</a:t>
            </a:r>
            <a:endParaRPr lang="en-US" sz="1280" dirty="0"/>
          </a:p>
        </p:txBody>
      </p:sp>
      <p:sp>
        <p:nvSpPr>
          <p:cNvPr id="10" name="Shape 8"/>
          <p:cNvSpPr/>
          <p:nvPr/>
        </p:nvSpPr>
        <p:spPr>
          <a:xfrm>
            <a:off x="713232" y="1993392"/>
            <a:ext cx="3520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" y="1993392"/>
            <a:ext cx="73152" cy="12344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2688" y="2194560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070" y="2322942"/>
            <a:ext cx="218724" cy="21872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36192" y="2176272"/>
            <a:ext cx="25146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</a:t>
            </a:r>
            <a:endParaRPr lang="en-US" sz="1320" dirty="0"/>
          </a:p>
        </p:txBody>
      </p:sp>
      <p:sp>
        <p:nvSpPr>
          <p:cNvPr id="15" name="Text 12"/>
          <p:cNvSpPr/>
          <p:nvPr/>
        </p:nvSpPr>
        <p:spPr>
          <a:xfrm>
            <a:off x="969264" y="2816352"/>
            <a:ext cx="304495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traces, metrics, and logs for services.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4416552" y="1993392"/>
            <a:ext cx="3520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416552" y="1993392"/>
            <a:ext cx="73152" cy="12344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36008" y="2194560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390" y="2322942"/>
            <a:ext cx="218724" cy="21872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239512" y="2176272"/>
            <a:ext cx="25146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Managed Prometheus</a:t>
            </a:r>
            <a:endParaRPr lang="en-US" sz="1320" dirty="0"/>
          </a:p>
        </p:txBody>
      </p:sp>
      <p:sp>
        <p:nvSpPr>
          <p:cNvPr id="21" name="Text 17"/>
          <p:cNvSpPr/>
          <p:nvPr/>
        </p:nvSpPr>
        <p:spPr>
          <a:xfrm>
            <a:off x="4672584" y="2816352"/>
            <a:ext cx="304495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Fleet-scale metrics without running servers.</a:t>
            </a:r>
            <a:endParaRPr lang="en-US" sz="1080" dirty="0"/>
          </a:p>
        </p:txBody>
      </p:sp>
      <p:sp>
        <p:nvSpPr>
          <p:cNvPr id="22" name="Shape 18"/>
          <p:cNvSpPr/>
          <p:nvPr/>
        </p:nvSpPr>
        <p:spPr>
          <a:xfrm>
            <a:off x="8119872" y="1993392"/>
            <a:ext cx="3520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119872" y="1993392"/>
            <a:ext cx="73152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339328" y="2194560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710" y="2322942"/>
            <a:ext cx="218724" cy="21872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942832" y="2176272"/>
            <a:ext cx="25146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Managed Grafana</a:t>
            </a:r>
            <a:endParaRPr lang="en-US" sz="1320" dirty="0"/>
          </a:p>
        </p:txBody>
      </p:sp>
      <p:sp>
        <p:nvSpPr>
          <p:cNvPr id="27" name="Text 22"/>
          <p:cNvSpPr/>
          <p:nvPr/>
        </p:nvSpPr>
        <p:spPr>
          <a:xfrm>
            <a:off x="8375904" y="2816352"/>
            <a:ext cx="304495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SSO, alerts, release visibility.</a:t>
            </a:r>
            <a:endParaRPr lang="en-US" sz="1080" dirty="0"/>
          </a:p>
        </p:txBody>
      </p:sp>
      <p:sp>
        <p:nvSpPr>
          <p:cNvPr id="28" name="Shape 23"/>
          <p:cNvSpPr/>
          <p:nvPr/>
        </p:nvSpPr>
        <p:spPr>
          <a:xfrm>
            <a:off x="713232" y="3438144"/>
            <a:ext cx="3520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713232" y="3438144"/>
            <a:ext cx="73152" cy="1234440"/>
          </a:xfrm>
          <a:prstGeom prst="rect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32688" y="3639312"/>
            <a:ext cx="475488" cy="475488"/>
          </a:xfrm>
          <a:prstGeom prst="ellipse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070" y="3767694"/>
            <a:ext cx="218724" cy="21872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536192" y="3621024"/>
            <a:ext cx="25146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 Monitor</a:t>
            </a:r>
            <a:endParaRPr lang="en-US" sz="1320" dirty="0"/>
          </a:p>
        </p:txBody>
      </p:sp>
      <p:sp>
        <p:nvSpPr>
          <p:cNvPr id="33" name="Text 27"/>
          <p:cNvSpPr/>
          <p:nvPr/>
        </p:nvSpPr>
        <p:spPr>
          <a:xfrm>
            <a:off x="969264" y="4261104"/>
            <a:ext cx="304495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Insights, Log Analytics, KQL.</a:t>
            </a:r>
            <a:endParaRPr lang="en-US" sz="1080" dirty="0"/>
          </a:p>
        </p:txBody>
      </p:sp>
      <p:sp>
        <p:nvSpPr>
          <p:cNvPr id="34" name="Shape 28"/>
          <p:cNvSpPr/>
          <p:nvPr/>
        </p:nvSpPr>
        <p:spPr>
          <a:xfrm>
            <a:off x="4416552" y="3438144"/>
            <a:ext cx="3520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4416552" y="3438144"/>
            <a:ext cx="73152" cy="1234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636008" y="3639312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390" y="3767694"/>
            <a:ext cx="218724" cy="218724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5239512" y="3621024"/>
            <a:ext cx="25146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 Policy</a:t>
            </a:r>
            <a:endParaRPr lang="en-US" sz="1320" dirty="0"/>
          </a:p>
        </p:txBody>
      </p:sp>
      <p:sp>
        <p:nvSpPr>
          <p:cNvPr id="39" name="Text 32"/>
          <p:cNvSpPr/>
          <p:nvPr/>
        </p:nvSpPr>
        <p:spPr>
          <a:xfrm>
            <a:off x="4672584" y="4261104"/>
            <a:ext cx="304495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compliance reporting for AKS.</a:t>
            </a:r>
            <a:endParaRPr lang="en-US" sz="1080" dirty="0"/>
          </a:p>
        </p:txBody>
      </p:sp>
      <p:sp>
        <p:nvSpPr>
          <p:cNvPr id="40" name="Shape 33"/>
          <p:cNvSpPr/>
          <p:nvPr/>
        </p:nvSpPr>
        <p:spPr>
          <a:xfrm>
            <a:off x="8119872" y="3438144"/>
            <a:ext cx="3520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41" name="Shape 34"/>
          <p:cNvSpPr/>
          <p:nvPr/>
        </p:nvSpPr>
        <p:spPr>
          <a:xfrm>
            <a:off x="8119872" y="3438144"/>
            <a:ext cx="73152" cy="1234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8339328" y="3639312"/>
            <a:ext cx="475488" cy="47548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7710" y="3767694"/>
            <a:ext cx="218724" cy="218724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8942832" y="3621024"/>
            <a:ext cx="25146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Gatekeeper</a:t>
            </a:r>
            <a:endParaRPr lang="en-US" sz="1320" dirty="0"/>
          </a:p>
        </p:txBody>
      </p:sp>
      <p:sp>
        <p:nvSpPr>
          <p:cNvPr id="45" name="Text 37"/>
          <p:cNvSpPr/>
          <p:nvPr/>
        </p:nvSpPr>
        <p:spPr>
          <a:xfrm>
            <a:off x="8375904" y="4261104"/>
            <a:ext cx="304495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 admission guardrails from GitOps.</a:t>
            </a:r>
            <a:endParaRPr lang="en-US" sz="1080" dirty="0"/>
          </a:p>
        </p:txBody>
      </p:sp>
      <p:sp>
        <p:nvSpPr>
          <p:cNvPr id="46" name="Shape 38"/>
          <p:cNvSpPr/>
          <p:nvPr/>
        </p:nvSpPr>
        <p:spPr>
          <a:xfrm>
            <a:off x="1234440" y="5349240"/>
            <a:ext cx="9692640" cy="566928"/>
          </a:xfrm>
          <a:prstGeom prst="rect">
            <a:avLst/>
          </a:prstGeom>
          <a:solidFill>
            <a:srgbClr val="0B1026"/>
          </a:solidFill>
          <a:ln w="12700">
            <a:solidFill>
              <a:srgbClr val="0B1026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47" name="Text 39"/>
          <p:cNvSpPr/>
          <p:nvPr/>
        </p:nvSpPr>
        <p:spPr>
          <a:xfrm>
            <a:off x="1417320" y="5522976"/>
            <a:ext cx="93268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Telemetry pipeline: workloads -&gt; OTel -&gt; managed metrics/logs -&gt; dashboards, alerts, release analysis</a:t>
            </a:r>
            <a:endParaRPr lang="en-US" sz="9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0292" cy="685800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0" y="-1188720"/>
            <a:ext cx="3108960" cy="3108960"/>
          </a:xfrm>
          <a:prstGeom prst="ellipse">
            <a:avLst/>
          </a:prstGeom>
          <a:solidFill>
            <a:srgbClr val="DDF2F7">
              <a:alpha val="18000"/>
            </a:srgbClr>
          </a:solidFill>
          <a:ln w="12700">
            <a:solidFill>
              <a:srgbClr val="DDF2F7">
                <a:alpha val="4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84048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FLOW 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667512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Backstage deploys an application with ArgoCD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1231575" y="635508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Multi-Cluster Platform Engineering on AKS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371600"/>
            <a:ext cx="1078992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walkthrough: a developer uses Backstage Create, produces a GitHub PR, and lets ArgoCD deploy the AKS Store Demo app to a namespace.</a:t>
            </a:r>
            <a:endParaRPr lang="en-US" sz="1280" dirty="0"/>
          </a:p>
        </p:txBody>
      </p:sp>
      <p:sp>
        <p:nvSpPr>
          <p:cNvPr id="10" name="Shape 8"/>
          <p:cNvSpPr/>
          <p:nvPr/>
        </p:nvSpPr>
        <p:spPr>
          <a:xfrm>
            <a:off x="658368" y="2450592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397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2596896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240" y="2710464"/>
            <a:ext cx="193487" cy="193487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2569464"/>
            <a:ext cx="9509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</a:t>
            </a:r>
            <a:endParaRPr lang="en-US" sz="1080" dirty="0"/>
          </a:p>
        </p:txBody>
      </p:sp>
      <p:sp>
        <p:nvSpPr>
          <p:cNvPr id="14" name="Text 11"/>
          <p:cNvSpPr/>
          <p:nvPr/>
        </p:nvSpPr>
        <p:spPr>
          <a:xfrm>
            <a:off x="1325880" y="2834640"/>
            <a:ext cx="9509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app template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2395728" y="2926080"/>
            <a:ext cx="301752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headEnd type="none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2743200" y="2450592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397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889504" y="2596896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3072" y="2710464"/>
            <a:ext cx="193487" cy="193487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410712" y="2569464"/>
            <a:ext cx="9509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Backstage</a:t>
            </a:r>
            <a:endParaRPr lang="en-US" sz="1080" dirty="0"/>
          </a:p>
        </p:txBody>
      </p:sp>
      <p:sp>
        <p:nvSpPr>
          <p:cNvPr id="20" name="Text 16"/>
          <p:cNvSpPr/>
          <p:nvPr/>
        </p:nvSpPr>
        <p:spPr>
          <a:xfrm>
            <a:off x="3410712" y="2834640"/>
            <a:ext cx="9509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Application with ArgoCD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4480560" y="2926080"/>
            <a:ext cx="301752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headEnd type="none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4828032" y="2450592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3970">
            <a:solidFill>
              <a:srgbClr val="0B1026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974336" y="2596896"/>
            <a:ext cx="420624" cy="420624"/>
          </a:xfrm>
          <a:prstGeom prst="ellipse">
            <a:avLst/>
          </a:prstGeom>
          <a:solidFill>
            <a:srgbClr val="0B1026"/>
          </a:solidFill>
          <a:ln w="12700">
            <a:solidFill>
              <a:srgbClr val="0B1026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7904" y="2710464"/>
            <a:ext cx="193487" cy="193487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495544" y="2569464"/>
            <a:ext cx="9509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PR</a:t>
            </a:r>
            <a:endParaRPr lang="en-US" sz="1080" dirty="0"/>
          </a:p>
        </p:txBody>
      </p:sp>
      <p:sp>
        <p:nvSpPr>
          <p:cNvPr id="26" name="Text 21"/>
          <p:cNvSpPr/>
          <p:nvPr/>
        </p:nvSpPr>
        <p:spPr>
          <a:xfrm>
            <a:off x="5495544" y="2834640"/>
            <a:ext cx="9509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catalog-info + ArgoCD app</a:t>
            </a:r>
            <a:endParaRPr lang="en-US" sz="880" dirty="0"/>
          </a:p>
        </p:txBody>
      </p:sp>
      <p:sp>
        <p:nvSpPr>
          <p:cNvPr id="27" name="Shape 22"/>
          <p:cNvSpPr/>
          <p:nvPr/>
        </p:nvSpPr>
        <p:spPr>
          <a:xfrm>
            <a:off x="6565392" y="2926080"/>
            <a:ext cx="301752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headEnd type="none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6912864" y="2450592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397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7059168" y="2596896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2736" y="2710464"/>
            <a:ext cx="193487" cy="193487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580376" y="2569464"/>
            <a:ext cx="9509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ArgoCD</a:t>
            </a:r>
            <a:endParaRPr lang="en-US" sz="1080" dirty="0"/>
          </a:p>
        </p:txBody>
      </p:sp>
      <p:sp>
        <p:nvSpPr>
          <p:cNvPr id="32" name="Text 26"/>
          <p:cNvSpPr/>
          <p:nvPr/>
        </p:nvSpPr>
        <p:spPr>
          <a:xfrm>
            <a:off x="7580376" y="2834640"/>
            <a:ext cx="9509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syncs app</a:t>
            </a:r>
            <a:endParaRPr lang="en-US" sz="880" dirty="0"/>
          </a:p>
        </p:txBody>
      </p:sp>
      <p:sp>
        <p:nvSpPr>
          <p:cNvPr id="33" name="Shape 27"/>
          <p:cNvSpPr/>
          <p:nvPr/>
        </p:nvSpPr>
        <p:spPr>
          <a:xfrm>
            <a:off x="8650224" y="2926080"/>
            <a:ext cx="301752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headEnd type="none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8997696" y="2450592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3970">
            <a:solidFill>
              <a:srgbClr val="16A34A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9144000" y="2596896"/>
            <a:ext cx="420624" cy="42062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7568" y="2710464"/>
            <a:ext cx="193487" cy="193487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9665208" y="2569464"/>
            <a:ext cx="9509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AKS</a:t>
            </a:r>
            <a:endParaRPr lang="en-US" sz="1080" dirty="0"/>
          </a:p>
        </p:txBody>
      </p:sp>
      <p:sp>
        <p:nvSpPr>
          <p:cNvPr id="38" name="Text 31"/>
          <p:cNvSpPr/>
          <p:nvPr/>
        </p:nvSpPr>
        <p:spPr>
          <a:xfrm>
            <a:off x="9665208" y="2834640"/>
            <a:ext cx="9509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aks-store-demo namespace</a:t>
            </a:r>
            <a:endParaRPr lang="en-US" sz="880" dirty="0"/>
          </a:p>
        </p:txBody>
      </p:sp>
      <p:sp>
        <p:nvSpPr>
          <p:cNvPr id="39" name="Shape 32"/>
          <p:cNvSpPr/>
          <p:nvPr/>
        </p:nvSpPr>
        <p:spPr>
          <a:xfrm>
            <a:off x="960120" y="4160520"/>
            <a:ext cx="3154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960120" y="4160520"/>
            <a:ext cx="73152" cy="1554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1179576" y="4361688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7958" y="4490070"/>
            <a:ext cx="218724" cy="218724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1783080" y="4343400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Generated content</a:t>
            </a:r>
            <a:endParaRPr lang="en-US" sz="1320" dirty="0"/>
          </a:p>
        </p:txBody>
      </p:sp>
      <p:sp>
        <p:nvSpPr>
          <p:cNvPr id="44" name="Text 36"/>
          <p:cNvSpPr/>
          <p:nvPr/>
        </p:nvSpPr>
        <p:spPr>
          <a:xfrm>
            <a:off x="1216152" y="4983480"/>
            <a:ext cx="2679192" cy="4846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catalog entity plus ArgoCD Application manifest.</a:t>
            </a:r>
            <a:endParaRPr lang="en-US" sz="1080" dirty="0"/>
          </a:p>
        </p:txBody>
      </p:sp>
      <p:sp>
        <p:nvSpPr>
          <p:cNvPr id="45" name="Shape 37"/>
          <p:cNvSpPr/>
          <p:nvPr/>
        </p:nvSpPr>
        <p:spPr>
          <a:xfrm>
            <a:off x="4480560" y="4160520"/>
            <a:ext cx="3154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46" name="Shape 38"/>
          <p:cNvSpPr/>
          <p:nvPr/>
        </p:nvSpPr>
        <p:spPr>
          <a:xfrm>
            <a:off x="4480560" y="4160520"/>
            <a:ext cx="73152" cy="1554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4700016" y="4361688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8398" y="4490070"/>
            <a:ext cx="218724" cy="218724"/>
          </a:xfrm>
          <a:prstGeom prst="rect">
            <a:avLst/>
          </a:prstGeom>
        </p:spPr>
      </p:pic>
      <p:sp>
        <p:nvSpPr>
          <p:cNvPr id="49" name="Text 40"/>
          <p:cNvSpPr/>
          <p:nvPr/>
        </p:nvSpPr>
        <p:spPr>
          <a:xfrm>
            <a:off x="5303520" y="4343400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 sees</a:t>
            </a:r>
            <a:endParaRPr lang="en-US" sz="1320" dirty="0"/>
          </a:p>
        </p:txBody>
      </p:sp>
      <p:sp>
        <p:nvSpPr>
          <p:cNvPr id="50" name="Text 41"/>
          <p:cNvSpPr/>
          <p:nvPr/>
        </p:nvSpPr>
        <p:spPr>
          <a:xfrm>
            <a:off x="4736592" y="4983480"/>
            <a:ext cx="2679192" cy="4846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ownership, ArgoCD health, and Kubernetes resources.</a:t>
            </a:r>
            <a:endParaRPr lang="en-US" sz="1080" dirty="0"/>
          </a:p>
        </p:txBody>
      </p:sp>
      <p:sp>
        <p:nvSpPr>
          <p:cNvPr id="51" name="Shape 42"/>
          <p:cNvSpPr/>
          <p:nvPr/>
        </p:nvSpPr>
        <p:spPr>
          <a:xfrm>
            <a:off x="8001000" y="4160520"/>
            <a:ext cx="3154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52" name="Shape 43"/>
          <p:cNvSpPr/>
          <p:nvPr/>
        </p:nvSpPr>
        <p:spPr>
          <a:xfrm>
            <a:off x="8001000" y="4160520"/>
            <a:ext cx="73152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3" name="Shape 44"/>
          <p:cNvSpPr/>
          <p:nvPr/>
        </p:nvSpPr>
        <p:spPr>
          <a:xfrm>
            <a:off x="8220456" y="4361688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48838" y="4490070"/>
            <a:ext cx="218724" cy="218724"/>
          </a:xfrm>
          <a:prstGeom prst="rect">
            <a:avLst/>
          </a:prstGeom>
        </p:spPr>
      </p:pic>
      <p:sp>
        <p:nvSpPr>
          <p:cNvPr id="55" name="Text 45"/>
          <p:cNvSpPr/>
          <p:nvPr/>
        </p:nvSpPr>
        <p:spPr>
          <a:xfrm>
            <a:off x="8823960" y="4343400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endParaRPr lang="en-US" sz="1320" dirty="0"/>
          </a:p>
        </p:txBody>
      </p:sp>
      <p:sp>
        <p:nvSpPr>
          <p:cNvPr id="56" name="Text 46"/>
          <p:cNvSpPr/>
          <p:nvPr/>
        </p:nvSpPr>
        <p:spPr>
          <a:xfrm>
            <a:off x="8257032" y="4983480"/>
            <a:ext cx="2679192" cy="4846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for app teams; governance stays in Git review and ArgoCD.</a:t>
            </a:r>
            <a:endParaRPr lang="en-US" sz="10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0292" cy="685800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0" y="-1188720"/>
            <a:ext cx="3108960" cy="3108960"/>
          </a:xfrm>
          <a:prstGeom prst="ellipse">
            <a:avLst/>
          </a:prstGeom>
          <a:solidFill>
            <a:srgbClr val="DDF2F7">
              <a:alpha val="18000"/>
            </a:srgbClr>
          </a:solidFill>
          <a:ln w="12700">
            <a:solidFill>
              <a:srgbClr val="DDF2F7">
                <a:alpha val="4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84048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FLOW 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667512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an AKS workload cluster and join Fleet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1231575" y="635508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26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Multi-Cluster Platform Engineering on AKS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371600"/>
            <a:ext cx="1078992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walkthrough: Git declares a cluster, ArgoCD syncs CAPZ resources, Azure creates AKS, and the operator verifies Fleet membership.</a:t>
            </a:r>
            <a:endParaRPr lang="en-US" sz="1280" dirty="0"/>
          </a:p>
        </p:txBody>
      </p:sp>
      <p:sp>
        <p:nvSpPr>
          <p:cNvPr id="10" name="Shape 8"/>
          <p:cNvSpPr/>
          <p:nvPr/>
        </p:nvSpPr>
        <p:spPr>
          <a:xfrm>
            <a:off x="868680" y="2450592"/>
            <a:ext cx="242316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3970">
            <a:solidFill>
              <a:srgbClr val="0B1026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14984" y="2596896"/>
            <a:ext cx="420624" cy="420624"/>
          </a:xfrm>
          <a:prstGeom prst="ellipse">
            <a:avLst/>
          </a:prstGeom>
          <a:solidFill>
            <a:srgbClr val="0B1026"/>
          </a:solidFill>
          <a:ln w="12700">
            <a:solidFill>
              <a:srgbClr val="0B102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552" y="2710464"/>
            <a:ext cx="193487" cy="193487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536192" y="2569464"/>
            <a:ext cx="16367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 definition</a:t>
            </a:r>
            <a:endParaRPr lang="en-US" sz="1080" dirty="0"/>
          </a:p>
        </p:txBody>
      </p:sp>
      <p:sp>
        <p:nvSpPr>
          <p:cNvPr id="14" name="Text 11"/>
          <p:cNvSpPr/>
          <p:nvPr/>
        </p:nvSpPr>
        <p:spPr>
          <a:xfrm>
            <a:off x="1536192" y="2834640"/>
            <a:ext cx="1636776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Git cluster spec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3291840" y="2944368"/>
            <a:ext cx="36576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headEnd type="none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3657600" y="2450592"/>
            <a:ext cx="242316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397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803904" y="2596896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472" y="2710464"/>
            <a:ext cx="193487" cy="193487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325112" y="2569464"/>
            <a:ext cx="16367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ArgoCD</a:t>
            </a:r>
            <a:endParaRPr lang="en-US" sz="1080" dirty="0"/>
          </a:p>
        </p:txBody>
      </p:sp>
      <p:sp>
        <p:nvSpPr>
          <p:cNvPr id="20" name="Text 16"/>
          <p:cNvSpPr/>
          <p:nvPr/>
        </p:nvSpPr>
        <p:spPr>
          <a:xfrm>
            <a:off x="4325112" y="2834640"/>
            <a:ext cx="1636776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Syncs cluster ApplicationSet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080760" y="2944368"/>
            <a:ext cx="36576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headEnd type="none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6446520" y="2450592"/>
            <a:ext cx="242316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3970">
            <a:solidFill>
              <a:srgbClr val="7B42B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592824" y="2596896"/>
            <a:ext cx="420624" cy="420624"/>
          </a:xfrm>
          <a:prstGeom prst="ellipse">
            <a:avLst/>
          </a:prstGeom>
          <a:solidFill>
            <a:srgbClr val="7B42BC"/>
          </a:solidFill>
          <a:ln w="12700">
            <a:solidFill>
              <a:srgbClr val="7B42BC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6392" y="2710464"/>
            <a:ext cx="193487" cy="193487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7114032" y="2569464"/>
            <a:ext cx="16367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CAPZ + ASO</a:t>
            </a:r>
            <a:endParaRPr lang="en-US" sz="1080" dirty="0"/>
          </a:p>
        </p:txBody>
      </p:sp>
      <p:sp>
        <p:nvSpPr>
          <p:cNvPr id="26" name="Text 21"/>
          <p:cNvSpPr/>
          <p:nvPr/>
        </p:nvSpPr>
        <p:spPr>
          <a:xfrm>
            <a:off x="7114032" y="2834640"/>
            <a:ext cx="1636776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Azure AKS resources</a:t>
            </a:r>
            <a:endParaRPr lang="en-US" sz="880" dirty="0"/>
          </a:p>
        </p:txBody>
      </p:sp>
      <p:sp>
        <p:nvSpPr>
          <p:cNvPr id="27" name="Shape 22"/>
          <p:cNvSpPr/>
          <p:nvPr/>
        </p:nvSpPr>
        <p:spPr>
          <a:xfrm>
            <a:off x="8869680" y="2944368"/>
            <a:ext cx="36576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headEnd type="none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9235440" y="2450592"/>
            <a:ext cx="242316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397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381744" y="2596896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5312" y="2710464"/>
            <a:ext cx="193487" cy="193487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902952" y="2569464"/>
            <a:ext cx="163677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Fleet membership</a:t>
            </a:r>
            <a:endParaRPr lang="en-US" sz="1080" dirty="0"/>
          </a:p>
        </p:txBody>
      </p:sp>
      <p:sp>
        <p:nvSpPr>
          <p:cNvPr id="32" name="Text 26"/>
          <p:cNvSpPr/>
          <p:nvPr/>
        </p:nvSpPr>
        <p:spPr>
          <a:xfrm>
            <a:off x="9902952" y="2834640"/>
            <a:ext cx="1636776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update group</a:t>
            </a:r>
            <a:endParaRPr lang="en-US" sz="880" dirty="0"/>
          </a:p>
        </p:txBody>
      </p:sp>
      <p:sp>
        <p:nvSpPr>
          <p:cNvPr id="33" name="Shape 27"/>
          <p:cNvSpPr/>
          <p:nvPr/>
        </p:nvSpPr>
        <p:spPr>
          <a:xfrm>
            <a:off x="960120" y="4297680"/>
            <a:ext cx="3246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960120" y="4297680"/>
            <a:ext cx="73152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79576" y="4498848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7958" y="4627230"/>
            <a:ext cx="218724" cy="218724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1783080" y="4480560"/>
            <a:ext cx="224028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Workload cluster</a:t>
            </a:r>
            <a:endParaRPr lang="en-US" sz="1320" dirty="0"/>
          </a:p>
        </p:txBody>
      </p:sp>
      <p:sp>
        <p:nvSpPr>
          <p:cNvPr id="38" name="Text 31"/>
          <p:cNvSpPr/>
          <p:nvPr/>
        </p:nvSpPr>
        <p:spPr>
          <a:xfrm>
            <a:off x="1216152" y="5120640"/>
            <a:ext cx="27706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AKS cluster is created in the selected region with a dedicated system node pool.</a:t>
            </a:r>
            <a:endParaRPr lang="en-US" sz="1080" dirty="0"/>
          </a:p>
        </p:txBody>
      </p:sp>
      <p:sp>
        <p:nvSpPr>
          <p:cNvPr id="39" name="Shape 32"/>
          <p:cNvSpPr/>
          <p:nvPr/>
        </p:nvSpPr>
        <p:spPr>
          <a:xfrm>
            <a:off x="4480560" y="4297680"/>
            <a:ext cx="3246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4480560" y="4297680"/>
            <a:ext cx="73152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4700016" y="4498848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398" y="4627230"/>
            <a:ext cx="218724" cy="218724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5303520" y="4480560"/>
            <a:ext cx="224028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standard</a:t>
            </a:r>
            <a:endParaRPr lang="en-US" sz="1320" dirty="0"/>
          </a:p>
        </p:txBody>
      </p:sp>
      <p:sp>
        <p:nvSpPr>
          <p:cNvPr id="44" name="Text 36"/>
          <p:cNvSpPr/>
          <p:nvPr/>
        </p:nvSpPr>
        <p:spPr>
          <a:xfrm>
            <a:off x="4736592" y="5120640"/>
            <a:ext cx="27706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Standard_D4s_v5 and Managed OS disks provide a consistent baseline.</a:t>
            </a:r>
            <a:endParaRPr lang="en-US" sz="1080" dirty="0"/>
          </a:p>
        </p:txBody>
      </p:sp>
      <p:sp>
        <p:nvSpPr>
          <p:cNvPr id="45" name="Shape 37"/>
          <p:cNvSpPr/>
          <p:nvPr/>
        </p:nvSpPr>
        <p:spPr>
          <a:xfrm>
            <a:off x="8001000" y="4297680"/>
            <a:ext cx="3246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9000"/>
              </a:srgbClr>
            </a:outerShdw>
          </a:effectLst>
        </p:spPr>
      </p:sp>
      <p:sp>
        <p:nvSpPr>
          <p:cNvPr id="46" name="Shape 38"/>
          <p:cNvSpPr/>
          <p:nvPr/>
        </p:nvSpPr>
        <p:spPr>
          <a:xfrm>
            <a:off x="8001000" y="4297680"/>
            <a:ext cx="73152" cy="14173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8220456" y="4498848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8838" y="4627230"/>
            <a:ext cx="218724" cy="218724"/>
          </a:xfrm>
          <a:prstGeom prst="rect">
            <a:avLst/>
          </a:prstGeom>
        </p:spPr>
      </p:pic>
      <p:sp>
        <p:nvSpPr>
          <p:cNvPr id="49" name="Text 40"/>
          <p:cNvSpPr/>
          <p:nvPr/>
        </p:nvSpPr>
        <p:spPr>
          <a:xfrm>
            <a:off x="8823960" y="4480560"/>
            <a:ext cx="224028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0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Verify</a:t>
            </a:r>
            <a:endParaRPr lang="en-US" sz="1320" dirty="0"/>
          </a:p>
        </p:txBody>
      </p:sp>
      <p:sp>
        <p:nvSpPr>
          <p:cNvPr id="50" name="Text 41"/>
          <p:cNvSpPr/>
          <p:nvPr/>
        </p:nvSpPr>
        <p:spPr>
          <a:xfrm>
            <a:off x="8257032" y="5120640"/>
            <a:ext cx="27706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526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 ready, nodepool ready, Fleet member ready, ArgoCD target registered.</a:t>
            </a:r>
            <a:endParaRPr lang="en-US" sz="10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58200" y="-1645920"/>
            <a:ext cx="5669280" cy="5669280"/>
          </a:xfrm>
          <a:prstGeom prst="ellipse">
            <a:avLst/>
          </a:prstGeom>
          <a:solidFill>
            <a:srgbClr val="065A82">
              <a:alpha val="62000"/>
            </a:srgbClr>
          </a:solidFill>
          <a:ln w="12700">
            <a:solidFill>
              <a:srgbClr val="065A82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09760" y="1417320"/>
            <a:ext cx="4663440" cy="4663440"/>
          </a:xfrm>
          <a:prstGeom prst="ellipse">
            <a:avLst/>
          </a:prstGeom>
          <a:solidFill>
            <a:srgbClr val="1C7293">
              <a:alpha val="50000"/>
            </a:srgbClr>
          </a:solidFill>
          <a:ln w="12700">
            <a:solidFill>
              <a:srgbClr val="1C7293">
                <a:alpha val="5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87000" y="4114800"/>
            <a:ext cx="3108960" cy="3108960"/>
          </a:xfrm>
          <a:prstGeom prst="ellipse">
            <a:avLst/>
          </a:prstGeom>
          <a:solidFill>
            <a:srgbClr val="2DD4BF">
              <a:alpha val="38000"/>
            </a:srgbClr>
          </a:solidFill>
          <a:ln w="12700">
            <a:solidFill>
              <a:srgbClr val="2DD4BF">
                <a:alpha val="5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713232"/>
            <a:ext cx="74980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FLOW 3  |  CUSTOMER CLOSE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1170432"/>
            <a:ext cx="8549640" cy="1207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portal. One GitOps model.</a:t>
            </a:r>
            <a:endParaRPr lang="en-US" sz="3100" dirty="0"/>
          </a:p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Governed across AKS and non-AKS.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841248" y="2633472"/>
            <a:ext cx="8183880" cy="5852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DD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 completes the story for external clusters: onboard a reachable VM-hosted kind or other non-AKS cluster, register it with control-plane ArgoCD, and sync a curated baseline.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3767328"/>
            <a:ext cx="2011680" cy="841248"/>
          </a:xfrm>
          <a:prstGeom prst="roundRect">
            <a:avLst>
              <a:gd name="adj" fmla="val 8696"/>
            </a:avLst>
          </a:prstGeom>
          <a:solidFill>
            <a:srgbClr val="12315C"/>
          </a:solidFill>
          <a:ln w="1397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60704" y="3913632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4272" y="4027200"/>
            <a:ext cx="193487" cy="193487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581912" y="3886200"/>
            <a:ext cx="12252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 cluster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1581912" y="4151376"/>
            <a:ext cx="1225296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D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VM-hosted kind / edge / on-prem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3456432" y="3767328"/>
            <a:ext cx="2011680" cy="841248"/>
          </a:xfrm>
          <a:prstGeom prst="roundRect">
            <a:avLst>
              <a:gd name="adj" fmla="val 8696"/>
            </a:avLst>
          </a:prstGeom>
          <a:solidFill>
            <a:srgbClr val="12315C"/>
          </a:solidFill>
          <a:ln w="1397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602736" y="3913632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6304" y="4027200"/>
            <a:ext cx="193487" cy="193487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123944" y="3886200"/>
            <a:ext cx="12252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 Arc</a:t>
            </a:r>
            <a:endParaRPr lang="en-US" sz="1080" dirty="0"/>
          </a:p>
        </p:txBody>
      </p:sp>
      <p:sp>
        <p:nvSpPr>
          <p:cNvPr id="18" name="Text 14"/>
          <p:cNvSpPr/>
          <p:nvPr/>
        </p:nvSpPr>
        <p:spPr>
          <a:xfrm>
            <a:off x="4123944" y="4151376"/>
            <a:ext cx="1225296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D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resource + secure access</a:t>
            </a:r>
            <a:endParaRPr lang="en-US" sz="880" dirty="0"/>
          </a:p>
        </p:txBody>
      </p:sp>
      <p:sp>
        <p:nvSpPr>
          <p:cNvPr id="19" name="Shape 15"/>
          <p:cNvSpPr/>
          <p:nvPr/>
        </p:nvSpPr>
        <p:spPr>
          <a:xfrm>
            <a:off x="5998464" y="3767328"/>
            <a:ext cx="2011680" cy="841248"/>
          </a:xfrm>
          <a:prstGeom prst="roundRect">
            <a:avLst>
              <a:gd name="adj" fmla="val 8696"/>
            </a:avLst>
          </a:prstGeom>
          <a:solidFill>
            <a:srgbClr val="12315C"/>
          </a:solidFill>
          <a:ln w="1397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144768" y="3913632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8336" y="4027200"/>
            <a:ext cx="193487" cy="19348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665976" y="3886200"/>
            <a:ext cx="12252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ArgoCD</a:t>
            </a:r>
            <a:endParaRPr lang="en-US" sz="1080" dirty="0"/>
          </a:p>
        </p:txBody>
      </p:sp>
      <p:sp>
        <p:nvSpPr>
          <p:cNvPr id="23" name="Text 18"/>
          <p:cNvSpPr/>
          <p:nvPr/>
        </p:nvSpPr>
        <p:spPr>
          <a:xfrm>
            <a:off x="6665976" y="4151376"/>
            <a:ext cx="1225296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D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Secret + labels</a:t>
            </a:r>
            <a:endParaRPr lang="en-US" sz="880" dirty="0"/>
          </a:p>
        </p:txBody>
      </p:sp>
      <p:sp>
        <p:nvSpPr>
          <p:cNvPr id="24" name="Shape 19"/>
          <p:cNvSpPr/>
          <p:nvPr/>
        </p:nvSpPr>
        <p:spPr>
          <a:xfrm>
            <a:off x="8540496" y="3767328"/>
            <a:ext cx="2011680" cy="841248"/>
          </a:xfrm>
          <a:prstGeom prst="roundRect">
            <a:avLst>
              <a:gd name="adj" fmla="val 8696"/>
            </a:avLst>
          </a:prstGeom>
          <a:solidFill>
            <a:srgbClr val="12315C"/>
          </a:solidFill>
          <a:ln w="13970">
            <a:solidFill>
              <a:srgbClr val="16A34A"/>
            </a:solidFill>
            <a:prstDash val="solid"/>
          </a:ln>
          <a:effectLst>
            <a:outerShdw sx="100000" sy="100000" kx="0" ky="0" algn="bl" rotWithShape="0" blurRad="76200" dist="25400" dir="5400000">
              <a:srgbClr val="0B1026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8686800" y="3913632"/>
            <a:ext cx="420624" cy="42062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0368" y="4027200"/>
            <a:ext cx="193487" cy="19348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208008" y="3886200"/>
            <a:ext cx="12252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Baseline</a:t>
            </a:r>
            <a:endParaRPr lang="en-US" sz="1080" dirty="0"/>
          </a:p>
        </p:txBody>
      </p:sp>
      <p:sp>
        <p:nvSpPr>
          <p:cNvPr id="28" name="Text 22"/>
          <p:cNvSpPr/>
          <p:nvPr/>
        </p:nvSpPr>
        <p:spPr>
          <a:xfrm>
            <a:off x="9208008" y="4151376"/>
            <a:ext cx="1225296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D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workload proves sync</a:t>
            </a:r>
            <a:endParaRPr lang="en-US" sz="880" dirty="0"/>
          </a:p>
        </p:txBody>
      </p:sp>
      <p:sp>
        <p:nvSpPr>
          <p:cNvPr id="29" name="Shape 23"/>
          <p:cNvSpPr/>
          <p:nvPr/>
        </p:nvSpPr>
        <p:spPr>
          <a:xfrm>
            <a:off x="2926080" y="4187952"/>
            <a:ext cx="530352" cy="0"/>
          </a:xfrm>
          <a:prstGeom prst="line">
            <a:avLst/>
          </a:prstGeom>
          <a:noFill/>
          <a:ln w="25400">
            <a:solidFill>
              <a:srgbClr val="2DD4BF"/>
            </a:solidFill>
            <a:prstDash val="solid"/>
            <a:headEnd type="none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5468112" y="4187952"/>
            <a:ext cx="530352" cy="0"/>
          </a:xfrm>
          <a:prstGeom prst="line">
            <a:avLst/>
          </a:prstGeom>
          <a:noFill/>
          <a:ln w="25400">
            <a:solidFill>
              <a:srgbClr val="2DD4BF"/>
            </a:solidFill>
            <a:prstDash val="solid"/>
            <a:headEnd type="none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8010144" y="4187952"/>
            <a:ext cx="530352" cy="0"/>
          </a:xfrm>
          <a:prstGeom prst="line">
            <a:avLst/>
          </a:prstGeom>
          <a:noFill/>
          <a:ln w="25400">
            <a:solidFill>
              <a:srgbClr val="2DD4BF"/>
            </a:solidFill>
            <a:prstDash val="solid"/>
            <a:headEnd type="none"/>
            <a:tailEnd type="triangle"/>
          </a:ln>
        </p:spPr>
      </p:sp>
      <p:sp>
        <p:nvSpPr>
          <p:cNvPr id="32" name="Shape 26"/>
          <p:cNvSpPr/>
          <p:nvPr/>
        </p:nvSpPr>
        <p:spPr>
          <a:xfrm>
            <a:off x="914400" y="5715000"/>
            <a:ext cx="2496312" cy="320040"/>
          </a:xfrm>
          <a:prstGeom prst="roundRect">
            <a:avLst>
              <a:gd name="adj" fmla="val 1714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914400" y="5765292"/>
            <a:ext cx="249631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Backstage app deployment</a:t>
            </a:r>
            <a:endParaRPr lang="en-US" sz="860" dirty="0"/>
          </a:p>
        </p:txBody>
      </p:sp>
      <p:sp>
        <p:nvSpPr>
          <p:cNvPr id="34" name="Shape 28"/>
          <p:cNvSpPr/>
          <p:nvPr/>
        </p:nvSpPr>
        <p:spPr>
          <a:xfrm>
            <a:off x="3575304" y="5715000"/>
            <a:ext cx="2843784" cy="320040"/>
          </a:xfrm>
          <a:prstGeom prst="roundRect">
            <a:avLst>
              <a:gd name="adj" fmla="val 1714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575304" y="5765292"/>
            <a:ext cx="2843784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AKS workload cluster + Fleet</a:t>
            </a:r>
            <a:endParaRPr lang="en-US" sz="860" dirty="0"/>
          </a:p>
        </p:txBody>
      </p:sp>
      <p:sp>
        <p:nvSpPr>
          <p:cNvPr id="36" name="Shape 30"/>
          <p:cNvSpPr/>
          <p:nvPr/>
        </p:nvSpPr>
        <p:spPr>
          <a:xfrm>
            <a:off x="6583680" y="5715000"/>
            <a:ext cx="3364992" cy="320040"/>
          </a:xfrm>
          <a:prstGeom prst="roundRect">
            <a:avLst>
              <a:gd name="adj" fmla="val 1714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6583680" y="5765292"/>
            <a:ext cx="336499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 Arc-enabled external cluster</a:t>
            </a:r>
            <a:endParaRPr lang="en-US" sz="860" dirty="0"/>
          </a:p>
        </p:txBody>
      </p:sp>
      <p:sp>
        <p:nvSpPr>
          <p:cNvPr id="38" name="Text 32"/>
          <p:cNvSpPr/>
          <p:nvPr/>
        </p:nvSpPr>
        <p:spPr>
          <a:xfrm>
            <a:off x="914400" y="6199632"/>
            <a:ext cx="987552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DD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takeaway: teams get self-service speed while the platform keeps policy, identity, observability, and audit consistent.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ola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GitHub Copilot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Multi-Cluster Platform Engineering on AKS</dc:title>
  <dc:subject>AKS multi-cluster platform engineering</dc:subject>
  <dc:creator>Platform Engineering</dc:creator>
  <cp:lastModifiedBy>Platform Engineering</cp:lastModifiedBy>
  <cp:revision>1</cp:revision>
  <dcterms:created xsi:type="dcterms:W3CDTF">2026-06-29T00:57:55Z</dcterms:created>
  <dcterms:modified xsi:type="dcterms:W3CDTF">2026-06-29T00:57:55Z</dcterms:modified>
</cp:coreProperties>
</file>