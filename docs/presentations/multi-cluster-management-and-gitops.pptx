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78D4"/>
                </a:solidFill>
                <a:latin typeface="Segoe UI"/>
              </a:rPr>
              <a:t>MULTI-CLUSTER MANAGEMENT  ·  GITOPS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24028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202020"/>
                </a:solidFill>
                <a:latin typeface="Segoe UI Light"/>
              </a:rPr>
              <a:t>Managing Kubernetes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605E5C"/>
                </a:solidFill>
                <a:latin typeface="Segoe UI Light"/>
              </a:rPr>
              <a:t>One GitOps control loop across AKS and external clusters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74320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</a:rPr>
              <a:t>Azure Kubernetes Service  ·  ArgoCD  ·  Fleet Manager  ·  Azure Arc  ·  Cluster API / Crossplane  ·  Backstage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Platform Engineering Reference Architecture  ·  Customer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Why multi-cluster is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Platform Engineering on Azure Kubernetes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Platform teams run many clusters to separate dev, staging, and production and to isolate teams. Without a common operating model, that scale becomes 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50800" cy="14173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24612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Configuration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666744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Every cluster is hand-tuned. State is unreviewable and hard to reproduce.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0632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3063240"/>
            <a:ext cx="50800" cy="141732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324612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Slow onboarding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666744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Standing up a new team or cluster is a manual, ticket-driven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0916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709160"/>
            <a:ext cx="50800" cy="141732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89204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Inconsistent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312664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Security, policy, and add-ons differ per cluster and per cloud.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70916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709160"/>
            <a:ext cx="50800" cy="14173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489204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Fragmented tooling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5312664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AKS, on-prem, edge, and other clouds each need their own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A paved road built on GitOps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Platform Engineering on Azure Kubernetes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A management (control-plane) AKS cluster runs the platform. Git is the single source of truth; ArgoCD continuously reconciles every cluster to match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2615184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3346704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69080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02020"/>
                </a:solidFill>
                <a:latin typeface="Segoe UI"/>
              </a:rPr>
              <a:t>Declare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805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Platform standards, add-ons, clusters, and apps live as manifests in Git.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3108960"/>
            <a:ext cx="2615184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03904" y="3346704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4069080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02020"/>
                </a:solidFill>
                <a:latin typeface="Segoe UI"/>
              </a:rPr>
              <a:t>Reconcile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44805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ArgoCD detects changes and syncs the desired state to target clusters.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3108960"/>
            <a:ext cx="2615184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28816" y="3346704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4069080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02020"/>
                </a:solidFill>
                <a:latin typeface="Segoe UI"/>
              </a:rPr>
              <a:t>Govern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44805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Fleet Manager and Azure Arc give one control plane across AKS and beyond.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3108960"/>
            <a:ext cx="2615184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53728" y="3346704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4069080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02020"/>
                </a:solidFill>
                <a:latin typeface="Segoe UI"/>
              </a:rPr>
              <a:t>Self-serve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4805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Backstage turns the paved road into a guided developer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Platform Engineering on Azure Kubernetes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05E5C"/>
                </a:solidFill>
                <a:latin typeface="Segoe UI"/>
              </a:rPr>
              <a:t>The GitOps Bridge pattern connects Terraform-provisioned infrastructure to an ArgoCD-driven control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2286000" cy="868680"/>
          </a:xfrm>
          <a:prstGeom prst="round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Git Repository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platform · clusters ·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06240"/>
            <a:ext cx="2286000" cy="868680"/>
          </a:xfrm>
          <a:prstGeom prst="roundRect">
            <a:avLst/>
          </a:prstGeom>
          <a:solidFill>
            <a:srgbClr val="605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Terraform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bootstrap control plane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3566160"/>
            <a:ext cx="2468880" cy="12344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Control-plane AKS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ArgoCD · App-of-Apps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651760"/>
            <a:ext cx="2377440" cy="822960"/>
          </a:xfrm>
          <a:prstGeom prst="round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AKS workload clusters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CAPZ / Crossplane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3703320"/>
            <a:ext cx="2377440" cy="822960"/>
          </a:xfrm>
          <a:prstGeom prst="round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Azure Fleet Manager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AKS 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754880"/>
            <a:ext cx="2377440" cy="822960"/>
          </a:xfrm>
          <a:prstGeom prst="roundRect">
            <a:avLst/>
          </a:prstGeom>
          <a:solidFill>
            <a:srgbClr val="605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Azure Arc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external / non-AKS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3703320"/>
            <a:ext cx="1920240" cy="822960"/>
          </a:xfrm>
          <a:prstGeom prst="round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Applications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GitOps-delivered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3355848"/>
            <a:ext cx="594360" cy="576072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108960" y="4389120"/>
            <a:ext cx="594360" cy="246888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172200" y="3063240"/>
            <a:ext cx="640080" cy="868680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4114800"/>
            <a:ext cx="640080" cy="0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72200" y="4297680"/>
            <a:ext cx="640080" cy="868680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89720" y="4114800"/>
            <a:ext cx="274320" cy="0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05E5C"/>
                </a:solidFill>
                <a:latin typeface="Segoe UI"/>
              </a:rPr>
              <a:t>Terraform installs ArgoCD, which bootstraps add-ons and syncs cluster definitions and apps from Git.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GITOPS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ArgoCD: the reconciliation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Platform Engineering on Azure Kubernetes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486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202020"/>
                </a:solidFill>
                <a:latin typeface="Segoe UI"/>
              </a:rPr>
              <a:t>▪  Git is the single source of truth for platform and apps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202020"/>
                </a:solidFill>
                <a:latin typeface="Segoe UI"/>
              </a:rPr>
              <a:t>▪  ArgoCD continuously compares live state to Git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202020"/>
                </a:solidFill>
                <a:latin typeface="Segoe UI"/>
              </a:rPr>
              <a:t>▪  Drift is auto-corrected or surfaced for review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202020"/>
                </a:solidFill>
                <a:latin typeface="Segoe UI"/>
              </a:rPr>
              <a:t>▪  Every change is reviewable, repeatable, and auditable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202020"/>
                </a:solidFill>
                <a:latin typeface="Segoe UI"/>
              </a:rPr>
              <a:t>▪  One workflow spans AKS, Fleet, and Arc-connected clusters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2286000"/>
            <a:ext cx="4709160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4688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05E5C"/>
                </a:solidFill>
                <a:latin typeface="Segoe UI"/>
              </a:rP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92608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02020"/>
                </a:solidFill>
                <a:latin typeface="Segoe UI"/>
              </a:rPr>
              <a:t>addons-argo-rollouts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907792"/>
            <a:ext cx="91440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 i="0">
                <a:solidFill>
                  <a:srgbClr val="005494"/>
                </a:solidFill>
                <a:latin typeface="Segoe UI"/>
              </a:rPr>
              <a:t>Synced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953512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07C10"/>
                </a:solidFill>
                <a:latin typeface="Segoe UI"/>
              </a:rPr>
              <a:t>● Healthy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438144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02020"/>
                </a:solidFill>
                <a:latin typeface="Segoe UI"/>
              </a:rPr>
              <a:t>cluster-apps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3419856"/>
            <a:ext cx="91440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 i="0">
                <a:solidFill>
                  <a:srgbClr val="005494"/>
                </a:solidFill>
                <a:latin typeface="Segoe UI"/>
              </a:rPr>
              <a:t>Synced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465576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07C10"/>
                </a:solidFill>
                <a:latin typeface="Segoe UI"/>
              </a:rPr>
              <a:t>● Healthy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950208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02020"/>
                </a:solidFill>
                <a:latin typeface="Segoe UI"/>
              </a:rPr>
              <a:t>aks-store-demo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3931920"/>
            <a:ext cx="91440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 i="0">
                <a:solidFill>
                  <a:srgbClr val="005494"/>
                </a:solidFill>
                <a:latin typeface="Segoe UI"/>
              </a:rPr>
              <a:t>Synced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977640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07C10"/>
                </a:solidFill>
                <a:latin typeface="Segoe UI"/>
              </a:rPr>
              <a:t>● Healthy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46227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02020"/>
                </a:solidFill>
                <a:latin typeface="Segoe UI"/>
              </a:rPr>
              <a:t>capz-cluster-def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4443984"/>
            <a:ext cx="91440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 i="0">
                <a:solidFill>
                  <a:srgbClr val="005494"/>
                </a:solidFill>
                <a:latin typeface="Segoe UI"/>
              </a:rPr>
              <a:t>Synced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4489704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B56E00"/>
                </a:solidFill>
                <a:latin typeface="Segoe UI"/>
              </a:rPr>
              <a:t>● Progressing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974336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02020"/>
                </a:solidFill>
                <a:latin typeface="Segoe UI"/>
              </a:rPr>
              <a:t>arc-baseline-arc-demo-vm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4956048"/>
            <a:ext cx="91440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 i="0">
                <a:solidFill>
                  <a:srgbClr val="005494"/>
                </a:solidFill>
                <a:latin typeface="Segoe UI"/>
              </a:rPr>
              <a:t>Synced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5001768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07C10"/>
                </a:solidFill>
                <a:latin typeface="Segoe UI"/>
              </a:rPr>
              <a:t>● Healthy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GITOPS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One repo, many clusters: App-of-Apps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Platform Engineering on Azure Kubernetes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An ApplicationSet bootstraps the platform; the App-of-Apps pattern lets one parent application own the whole tree of add-ons, clusters, and workloads.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78D4"/>
                </a:solidFill>
                <a:latin typeface="Consolas"/>
              </a:rPr>
              <a:t>gitops/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483864"/>
            <a:ext cx="128016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2" y="34290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02020"/>
                </a:solidFill>
                <a:latin typeface="Consolas"/>
              </a:rPr>
              <a:t>bootstrap/control-plane/addons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3941064"/>
            <a:ext cx="128016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38862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02020"/>
                </a:solidFill>
                <a:latin typeface="Consolas"/>
              </a:rPr>
              <a:t>environments/default/addons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4398264"/>
            <a:ext cx="128016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6192" y="4343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02020"/>
                </a:solidFill>
                <a:latin typeface="Consolas"/>
              </a:rPr>
              <a:t>clusters/  ·  capz  ·  crossplane  ·  arc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4855464"/>
            <a:ext cx="128016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6192" y="48006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02020"/>
                </a:solidFill>
                <a:latin typeface="Consolas"/>
              </a:rPr>
              <a:t>apps/  ·  aks-store-demo · myapp · arc-demo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5312664"/>
            <a:ext cx="128016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36192" y="52578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02020"/>
                </a:solidFill>
                <a:latin typeface="Consolas"/>
              </a:rPr>
              <a:t>hooks/  ·  sleep · identity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2880360"/>
            <a:ext cx="4389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2880360"/>
            <a:ext cx="50800" cy="1143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5472" y="30632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Declarative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3483864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Adding a cluster or app is a pull request — not a manual deploy.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4206240"/>
            <a:ext cx="4389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4206240"/>
            <a:ext cx="50800" cy="114300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5472" y="438912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Consistent everywhere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4809744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New clusters inherit the same add-ons and guardrails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INFRASTRUCTURE AS A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Clusters created from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Platform Engineering on Azure Kubernetes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Commit a cluster definition and ArgoCD provisions real Azure infrastructure through Kubernetes custom resources — no manual portal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1800"/>
            <a:ext cx="246888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02020"/>
                </a:solidFill>
                <a:latin typeface="Segoe UI"/>
              </a:rPr>
              <a:t>Commit cluster</a:t>
            </a:r>
          </a:p>
          <a:p>
            <a:pPr algn="ctr"/>
            <a:r>
              <a:rPr sz="1300" b="0" i="0">
                <a:solidFill>
                  <a:srgbClr val="202020"/>
                </a:solidFill>
                <a:latin typeface="Segoe UI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3200400"/>
            <a:ext cx="2194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078D4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971800"/>
            <a:ext cx="246888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02020"/>
                </a:solidFill>
                <a:latin typeface="Segoe UI"/>
              </a:rPr>
              <a:t>ArgoCD syncs</a:t>
            </a:r>
          </a:p>
          <a:p>
            <a:pPr algn="ctr"/>
            <a:r>
              <a:rPr sz="1300" b="0" i="0">
                <a:solidFill>
                  <a:srgbClr val="202020"/>
                </a:solidFill>
                <a:latin typeface="Segoe UI"/>
              </a:rPr>
              <a:t>CAPZ / ASO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5312" y="3200400"/>
            <a:ext cx="2194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078D4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971800"/>
            <a:ext cx="246888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02020"/>
                </a:solidFill>
                <a:latin typeface="Segoe UI"/>
              </a:rPr>
              <a:t>AKS workload</a:t>
            </a:r>
          </a:p>
          <a:p>
            <a:pPr algn="ctr"/>
            <a:r>
              <a:rPr sz="1300" b="0" i="0">
                <a:solidFill>
                  <a:srgbClr val="202020"/>
                </a:solidFill>
                <a:latin typeface="Segoe UI"/>
              </a:rPr>
              <a:t>cluster created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3200400"/>
            <a:ext cx="2194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078D4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971800"/>
            <a:ext cx="246888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02020"/>
                </a:solidFill>
                <a:latin typeface="Segoe UI"/>
              </a:rPr>
              <a:t>Add-ons + apps</a:t>
            </a:r>
          </a:p>
          <a:p>
            <a:pPr algn="ctr"/>
            <a:r>
              <a:rPr sz="1300" b="0" i="0">
                <a:solidFill>
                  <a:srgbClr val="202020"/>
                </a:solidFill>
                <a:latin typeface="Segoe UI"/>
              </a:rPr>
              <a:t>bootstrapped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34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434840"/>
            <a:ext cx="50800" cy="141732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61772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Cluster API Provider for Azure (CAPZ)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038344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Default path. Uses Azure Service Operator to render Cluster, AzureManagedControlPlane, and managed agent pools as Kubernetes resources.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434840"/>
            <a:ext cx="5029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434840"/>
            <a:ext cx="50800" cy="141732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6177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Crossplane (alternative)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38344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Swap the Terraform infrastructure_provider variable to manage Azure resources through Crossplane compositions instead.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AKS MULTI-CLUSTER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Azure Kubernetes Fleet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Platform Engineering on Azure Kubernetes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A native Azure control plane for AKS at scale — membership, grouping, and fleet-level operations across all workload clusters.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02020"/>
                </a:solidFill>
                <a:latin typeface="Segoe UI"/>
              </a:rPr>
              <a:t>▪  Central membership for all AKS clusters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02020"/>
                </a:solidFill>
                <a:latin typeface="Segoe UI"/>
              </a:rPr>
              <a:t>▪  Coordinated, staged update runs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02020"/>
                </a:solidFill>
                <a:latin typeface="Segoe UI"/>
              </a:rPr>
              <a:t>▪  Fleet-wide grouping and targeting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02020"/>
                </a:solidFill>
                <a:latin typeface="Segoe UI"/>
              </a:rPr>
              <a:t>▪  Complements — not replaces — the ArgoCD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3383280"/>
            <a:ext cx="1920240" cy="8686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gitops-fleet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7726680" y="2788920"/>
            <a:ext cx="1828800" cy="1024128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03720" y="2468880"/>
            <a:ext cx="1645920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202020"/>
                </a:solidFill>
                <a:latin typeface="Segoe UI"/>
              </a:rPr>
              <a:t>AKS member 1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555480" y="2788920"/>
            <a:ext cx="1600200" cy="1024128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332720" y="2468880"/>
            <a:ext cx="1645920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202020"/>
                </a:solidFill>
                <a:latin typeface="Segoe UI"/>
              </a:rPr>
              <a:t>AKS member 2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726680" y="3813048"/>
            <a:ext cx="1828800" cy="1581912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03720" y="5074920"/>
            <a:ext cx="1645920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202020"/>
                </a:solidFill>
                <a:latin typeface="Segoe UI"/>
              </a:rPr>
              <a:t>AKS member 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55480" y="3813048"/>
            <a:ext cx="1600200" cy="1581912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332720" y="5074920"/>
            <a:ext cx="1645920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202020"/>
                </a:solidFill>
                <a:latin typeface="Segoe UI"/>
              </a:rPr>
              <a:t>AKS member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EXTERNAL CLUSTER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Azure Arc-enabled Kubernetes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Platform Engineering on Azure Kubernetes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Bring on-prem, edge, kind/k3s, and other-cloud clusters under the same Azure and GitOps control plane. AKS uses Fleet Manager; everything else uses Arc.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50800" cy="13716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666744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az connectedk8s connect projects any conformant cluster into Azure.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306324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3063240"/>
            <a:ext cx="50800" cy="137160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666744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An ArgoCD cluster Secret makes the Arc cluster a GitOps target.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06324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3063240"/>
            <a:ext cx="50800" cy="137160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Reconcile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3666744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The same ArgoCD instance syncs baseline workloads to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754880"/>
            <a:ext cx="10533888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</a:rPr>
              <a:t>One pane of glass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Verified in this repo: a VM-hosted kind cluster onboarded as arc-demo-vm, registered to control-plane ArgoCD, running a Synced &amp; Healthy baseline 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DEVELOPER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Self-service with Backstage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Platform Engineering on Azure Kubernetes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Backstage is the front door. It turns platform standards into a guided workflow that produces GitOps changes — not tickets.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02020"/>
                </a:solidFill>
                <a:latin typeface="Segoe UI"/>
              </a:rPr>
              <a:t>▪  Software templates scaffold new services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02020"/>
                </a:solidFill>
                <a:latin typeface="Segoe UI"/>
              </a:rPr>
              <a:t>▪  “Deploy Application with ArgoCD” opens a pull request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02020"/>
                </a:solidFill>
                <a:latin typeface="Segoe UI"/>
              </a:rPr>
              <a:t>▪  GitHub OAuth sign-in and software catalog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02020"/>
                </a:solidFill>
                <a:latin typeface="Segoe UI"/>
              </a:rPr>
              <a:t>▪  Developers never need direct Azure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286000"/>
            <a:ext cx="4663440" cy="78638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250" b="1" i="0">
                <a:solidFill>
                  <a:srgbClr val="202020"/>
                </a:solidFill>
                <a:latin typeface="Segoe UI"/>
              </a:rPr>
              <a:t>Developer opens</a:t>
            </a:r>
          </a:p>
          <a:p>
            <a:pPr algn="l"/>
            <a:r>
              <a:rPr sz="1250" b="0" i="0">
                <a:solidFill>
                  <a:srgbClr val="605E5C"/>
                </a:solidFill>
                <a:latin typeface="Segoe UI"/>
              </a:rPr>
              <a:t>Backstage template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286000"/>
            <a:ext cx="50800" cy="7863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3246120"/>
            <a:ext cx="4663440" cy="78638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250" b="1" i="0">
                <a:solidFill>
                  <a:srgbClr val="202020"/>
                </a:solidFill>
                <a:latin typeface="Segoe UI"/>
              </a:rPr>
              <a:t>Template opens a</a:t>
            </a:r>
          </a:p>
          <a:p>
            <a:pPr algn="l"/>
            <a:r>
              <a:rPr sz="1250" b="0" i="0">
                <a:solidFill>
                  <a:srgbClr val="605E5C"/>
                </a:solidFill>
                <a:latin typeface="Segoe UI"/>
              </a:rPr>
              <a:t>GitHub pull 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246120"/>
            <a:ext cx="50800" cy="7863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4206240"/>
            <a:ext cx="4663440" cy="78638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250" b="1" i="0">
                <a:solidFill>
                  <a:srgbClr val="202020"/>
                </a:solidFill>
                <a:latin typeface="Segoe UI"/>
              </a:rPr>
              <a:t>Merge → ArgoCD</a:t>
            </a:r>
          </a:p>
          <a:p>
            <a:pPr algn="l"/>
            <a:r>
              <a:rPr sz="1250" b="0" i="0">
                <a:solidFill>
                  <a:srgbClr val="605E5C"/>
                </a:solidFill>
                <a:latin typeface="Segoe UI"/>
              </a:rPr>
              <a:t>syncs the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4206240"/>
            <a:ext cx="50800" cy="7863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0" y="5166360"/>
            <a:ext cx="4663440" cy="78638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250" b="1" i="0">
                <a:solidFill>
                  <a:srgbClr val="202020"/>
                </a:solidFill>
                <a:latin typeface="Segoe UI"/>
              </a:rPr>
              <a:t>App runs on the</a:t>
            </a:r>
          </a:p>
          <a:p>
            <a:pPr algn="l"/>
            <a:r>
              <a:rPr sz="1250" b="0" i="0">
                <a:solidFill>
                  <a:srgbClr val="605E5C"/>
                </a:solidFill>
                <a:latin typeface="Segoe UI"/>
              </a:rPr>
              <a:t>target cluster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5166360"/>
            <a:ext cx="50800" cy="7863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SAFE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Progressive delivery with Argo Rollouts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Platform Engineering on Azure Kubernetes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Ship changes gradually across the fleet. Shift traffic in steps, watch signals, and roll back automatically if health degrades.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0078D4"/>
                </a:solidFill>
                <a:latin typeface="Segoe UI Light"/>
              </a:rPr>
              <a:t>10%</a:t>
            </a:r>
          </a:p>
          <a:p>
            <a:pPr algn="ctr"/>
            <a:r>
              <a:rPr sz="1300" b="1" i="0">
                <a:solidFill>
                  <a:srgbClr val="605E5C"/>
                </a:solidFill>
                <a:latin typeface="Segoe UI"/>
              </a:rPr>
              <a:t>Canary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5264" y="3429000"/>
            <a:ext cx="237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078D4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10896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0078D4"/>
                </a:solidFill>
                <a:latin typeface="Segoe UI Light"/>
              </a:rPr>
              <a:t>30%</a:t>
            </a:r>
          </a:p>
          <a:p>
            <a:pPr algn="ctr"/>
            <a:r>
              <a:rPr sz="1300" b="1" i="0">
                <a:solidFill>
                  <a:srgbClr val="605E5C"/>
                </a:solidFill>
                <a:latin typeface="Segoe UI"/>
              </a:rPr>
              <a:t>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7024" y="3429000"/>
            <a:ext cx="237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078D4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10896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0078D4"/>
                </a:solidFill>
                <a:latin typeface="Segoe UI Light"/>
              </a:rPr>
              <a:t>60%</a:t>
            </a:r>
          </a:p>
          <a:p>
            <a:pPr algn="ctr"/>
            <a:r>
              <a:rPr sz="1300" b="1" i="0">
                <a:solidFill>
                  <a:srgbClr val="605E5C"/>
                </a:solidFill>
                <a:latin typeface="Segoe UI"/>
              </a:rPr>
              <a:t>Ramp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3429000"/>
            <a:ext cx="237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078D4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310896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107C10"/>
                </a:solidFill>
                <a:latin typeface="Segoe UI Light"/>
              </a:rPr>
              <a:t>100%</a:t>
            </a:r>
          </a:p>
          <a:p>
            <a:pPr algn="ctr"/>
            <a:r>
              <a:rPr sz="1300" b="1" i="0">
                <a:solidFill>
                  <a:srgbClr val="605E5C"/>
                </a:solidFill>
                <a:latin typeface="Segoe UI"/>
              </a:rPr>
              <a:t>Promote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46320"/>
            <a:ext cx="5257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846320"/>
            <a:ext cx="50800" cy="10058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02920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Automated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449824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Metrics gate each step; failing checks halt the rollout.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846320"/>
            <a:ext cx="5029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846320"/>
            <a:ext cx="50800" cy="100584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50292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Instant rollback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4498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Revert to the last healthy version with no manual scramble.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Security &amp; guardrails by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Platform Engineering on Azure Kubernetes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12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257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50800" cy="10972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1460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3522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Microsoft Entra ID and workload identity for Azure; GitHub OAuth for Backstage.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331720"/>
            <a:ext cx="5257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2331720"/>
            <a:ext cx="50800" cy="109728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3522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Azure Key Vault with the CSI driver; sensitive values via env vars, never in Git.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75304"/>
            <a:ext cx="5257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575304"/>
            <a:ext cx="50800" cy="109728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75818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1788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Azure Policy and Gatekeeper enforce platform-team guardrails on every cluster.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575304"/>
            <a:ext cx="5257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575304"/>
            <a:ext cx="50800" cy="10972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75818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Observability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1788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Azure Monitor, Managed Prometheus &amp; Grafana, and an OpenTelemetry story.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18888"/>
            <a:ext cx="5257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818888"/>
            <a:ext cx="50800" cy="109728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00176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Auditability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54223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Git history is the change log — every cluster change is reviewed and traceable.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4818888"/>
            <a:ext cx="5257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4818888"/>
            <a:ext cx="50800" cy="109728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00176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Isolation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4223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Dedicated clusters per team with policy-enforced limits from the platform team.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End-to-end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Platform Engineering on Azure Kubernetes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13 / 15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F5F8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05494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915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Platform control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61488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Management AKS hosting ArgoCD — teams need no direct Azure access.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2377440"/>
            <a:ext cx="640080" cy="640080"/>
          </a:xfrm>
          <a:prstGeom prst="ellipse">
            <a:avLst/>
          </a:prstGeom>
          <a:solidFill>
            <a:srgbClr val="F5F8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05494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35915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GitOps control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761488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ArgoCD applications Synced &amp; Healthy from Git.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611880"/>
            <a:ext cx="640080" cy="640080"/>
          </a:xfrm>
          <a:prstGeom prst="ellipse">
            <a:avLst/>
          </a:prstGeom>
          <a:solidFill>
            <a:srgbClr val="F5F8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05494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9359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Developer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95928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Backstage template opens a GitOps pull request.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3611880"/>
            <a:ext cx="640080" cy="640080"/>
          </a:xfrm>
          <a:prstGeom prst="ellipse">
            <a:avLst/>
          </a:prstGeom>
          <a:solidFill>
            <a:srgbClr val="F5F8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05494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59359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Application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995928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aks-store-demo running via the cluster-apps App-of-Apps.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rgbClr val="F5F8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05494"/>
                </a:solidFill>
                <a:latin typeface="Segoe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2803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AKS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230368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New workload cluster joins Azure Fleet Manager.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4846320"/>
            <a:ext cx="640080" cy="640080"/>
          </a:xfrm>
          <a:prstGeom prst="ellipse">
            <a:avLst/>
          </a:prstGeom>
          <a:solidFill>
            <a:srgbClr val="F5F8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05494"/>
                </a:solidFill>
                <a:latin typeface="Segoe U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82803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External clusters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5230368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Arc-connected kind cluster reconciled by the same ArgoCD.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Outcomes for your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Platform Engineering on Azure Kubernetes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50800" cy="1554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6517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Faster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7238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New clusters and teams go live in a pull request, with add-ons preinstalled.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46888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468880"/>
            <a:ext cx="50800" cy="155448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26517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Consistency at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307238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One paved road across AKS, on-prem, edge, and other clouds.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46888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468880"/>
            <a:ext cx="50800" cy="155448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6517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Lower operational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07238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Declarative state, automated reconciliation, and instant rollback.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0624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206240"/>
            <a:ext cx="50800" cy="1554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389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Developer velocity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80974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Self-service through Backstage without deep Kubernetes or Azure skills.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420624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6552" y="4206240"/>
            <a:ext cx="50800" cy="155448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2584" y="4389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Governed by default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2584" y="480974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Security, identity, and policy applied uniformly and audited via Git.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420624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4206240"/>
            <a:ext cx="50800" cy="155448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6" y="4389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Azure-native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480974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Built on AKS, Fleet Manager, Arc, Key Vault, and Azure Monitor.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IN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0116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02020"/>
                </a:solidFill>
                <a:latin typeface="Segoe UI Light"/>
              </a:rPr>
              <a:t>One portal. One GitOps workflow.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605E5C"/>
                </a:solidFill>
                <a:latin typeface="Segoe UI Light"/>
              </a:rPr>
              <a:t>A governed path across AKS and external Kubernetes clusters.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840480"/>
            <a:ext cx="676656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500" b="1" i="0">
                <a:solidFill>
                  <a:srgbClr val="202020"/>
                </a:solidFill>
                <a:latin typeface="Segoe UI"/>
              </a:rPr>
              <a:t>Developers: one self-service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840480"/>
            <a:ext cx="50800" cy="5669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4553712"/>
            <a:ext cx="676656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500" b="1" i="0">
                <a:solidFill>
                  <a:srgbClr val="202020"/>
                </a:solidFill>
                <a:latin typeface="Segoe UI"/>
              </a:rPr>
              <a:t>Operators: one GitOps control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553712"/>
            <a:ext cx="50800" cy="5669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5266944"/>
            <a:ext cx="676656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500" b="1" i="0">
                <a:solidFill>
                  <a:srgbClr val="202020"/>
                </a:solidFill>
                <a:latin typeface="Segoe UI"/>
              </a:rPr>
              <a:t>Business: governed multi-cluster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266944"/>
            <a:ext cx="50800" cy="5669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5494"/>
                </a:solidFill>
                <a:latin typeface="Segoe UI"/>
              </a:rPr>
              <a:t>Next step: run the customer demo — docs/customer-demo-end-to-end-runbook.md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